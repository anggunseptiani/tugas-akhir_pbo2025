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ango AC" charset="1" panose="00000000000000000000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352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07805" y="7611434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5"/>
                </a:lnTo>
                <a:lnTo>
                  <a:pt x="0" y="311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78372" y="-1470699"/>
            <a:ext cx="6433931" cy="7642899"/>
          </a:xfrm>
          <a:custGeom>
            <a:avLst/>
            <a:gdLst/>
            <a:ahLst/>
            <a:cxnLst/>
            <a:rect r="r" b="b" t="t" l="l"/>
            <a:pathLst>
              <a:path h="7642899" w="6433931">
                <a:moveTo>
                  <a:pt x="0" y="0"/>
                </a:moveTo>
                <a:lnTo>
                  <a:pt x="6433931" y="0"/>
                </a:lnTo>
                <a:lnTo>
                  <a:pt x="6433931" y="7642899"/>
                </a:lnTo>
                <a:lnTo>
                  <a:pt x="0" y="7642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297025" y="3789985"/>
            <a:ext cx="6433931" cy="7642899"/>
          </a:xfrm>
          <a:custGeom>
            <a:avLst/>
            <a:gdLst/>
            <a:ahLst/>
            <a:cxnLst/>
            <a:rect r="r" b="b" t="t" l="l"/>
            <a:pathLst>
              <a:path h="7642899" w="6433931">
                <a:moveTo>
                  <a:pt x="6433931" y="7642899"/>
                </a:moveTo>
                <a:lnTo>
                  <a:pt x="0" y="7642899"/>
                </a:lnTo>
                <a:lnTo>
                  <a:pt x="0" y="0"/>
                </a:lnTo>
                <a:lnTo>
                  <a:pt x="6433931" y="0"/>
                </a:lnTo>
                <a:lnTo>
                  <a:pt x="6433931" y="764289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198756">
            <a:off x="3950236" y="176349"/>
            <a:ext cx="1416453" cy="1704702"/>
          </a:xfrm>
          <a:custGeom>
            <a:avLst/>
            <a:gdLst/>
            <a:ahLst/>
            <a:cxnLst/>
            <a:rect r="r" b="b" t="t" l="l"/>
            <a:pathLst>
              <a:path h="1704702" w="1416453">
                <a:moveTo>
                  <a:pt x="0" y="0"/>
                </a:moveTo>
                <a:lnTo>
                  <a:pt x="1416453" y="0"/>
                </a:lnTo>
                <a:lnTo>
                  <a:pt x="1416453" y="1704702"/>
                </a:lnTo>
                <a:lnTo>
                  <a:pt x="0" y="1704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23455" y="2092081"/>
            <a:ext cx="10123767" cy="3051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5"/>
              </a:lnSpc>
            </a:pPr>
            <a:r>
              <a:rPr lang="en-US" sz="4155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SISTEM MANAJEMEN INVENTARIS TANAMAN HIAS CERDAS (SMART PLANT INVENTORY MANAGEMENT - SPIM)</a:t>
            </a:r>
          </a:p>
          <a:p>
            <a:pPr algn="ctr">
              <a:lnSpc>
                <a:spcPts val="469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365246" y="4818685"/>
            <a:ext cx="1601031" cy="2057400"/>
          </a:xfrm>
          <a:custGeom>
            <a:avLst/>
            <a:gdLst/>
            <a:ahLst/>
            <a:cxnLst/>
            <a:rect r="r" b="b" t="t" l="l"/>
            <a:pathLst>
              <a:path h="2057400" w="1601031">
                <a:moveTo>
                  <a:pt x="0" y="0"/>
                </a:moveTo>
                <a:lnTo>
                  <a:pt x="1601032" y="0"/>
                </a:lnTo>
                <a:lnTo>
                  <a:pt x="160103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8593" y="3218675"/>
            <a:ext cx="1601031" cy="2057400"/>
          </a:xfrm>
          <a:custGeom>
            <a:avLst/>
            <a:gdLst/>
            <a:ahLst/>
            <a:cxnLst/>
            <a:rect r="r" b="b" t="t" l="l"/>
            <a:pathLst>
              <a:path h="2057400" w="1601031">
                <a:moveTo>
                  <a:pt x="0" y="0"/>
                </a:moveTo>
                <a:lnTo>
                  <a:pt x="1601031" y="0"/>
                </a:lnTo>
                <a:lnTo>
                  <a:pt x="160103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3084388" y="-5300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7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7" y="0"/>
                </a:lnTo>
                <a:lnTo>
                  <a:pt x="6356137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198756">
            <a:off x="12632690" y="8707705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55429">
            <a:off x="9107386" y="-145579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3" y="0"/>
                </a:lnTo>
                <a:lnTo>
                  <a:pt x="3926993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54757" y="5057775"/>
            <a:ext cx="6261163" cy="388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8"/>
              </a:lnSpc>
            </a:pPr>
            <a:r>
              <a:rPr lang="en-US" sz="2748" b="true">
                <a:solidFill>
                  <a:srgbClr val="A74B4B"/>
                </a:solidFill>
                <a:latin typeface="Poppins Bold"/>
                <a:ea typeface="Poppins Bold"/>
                <a:cs typeface="Poppins Bold"/>
                <a:sym typeface="Poppins Bold"/>
              </a:rPr>
              <a:t>Disusun oleh: </a:t>
            </a:r>
          </a:p>
          <a:p>
            <a:pPr algn="ctr">
              <a:lnSpc>
                <a:spcPts val="3848"/>
              </a:lnSpc>
            </a:pPr>
            <a:r>
              <a:rPr lang="en-US" sz="2748" b="true">
                <a:solidFill>
                  <a:srgbClr val="A74B4B"/>
                </a:solidFill>
                <a:latin typeface="Poppins Bold"/>
                <a:ea typeface="Poppins Bold"/>
                <a:cs typeface="Poppins Bold"/>
                <a:sym typeface="Poppins Bold"/>
              </a:rPr>
              <a:t>NAMA : Anggun Septiani</a:t>
            </a:r>
          </a:p>
          <a:p>
            <a:pPr algn="ctr">
              <a:lnSpc>
                <a:spcPts val="3848"/>
              </a:lnSpc>
            </a:pPr>
            <a:r>
              <a:rPr lang="en-US" sz="2748" b="true">
                <a:solidFill>
                  <a:srgbClr val="A74B4B"/>
                </a:solidFill>
                <a:latin typeface="Poppins Bold"/>
                <a:ea typeface="Poppins Bold"/>
                <a:cs typeface="Poppins Bold"/>
                <a:sym typeface="Poppins Bold"/>
              </a:rPr>
              <a:t>NIM : 2400018147</a:t>
            </a:r>
          </a:p>
          <a:p>
            <a:pPr algn="ctr">
              <a:lnSpc>
                <a:spcPts val="3848"/>
              </a:lnSpc>
            </a:pPr>
            <a:r>
              <a:rPr lang="en-US" sz="2748" b="true">
                <a:solidFill>
                  <a:srgbClr val="A74B4B"/>
                </a:solidFill>
                <a:latin typeface="Poppins Bold"/>
                <a:ea typeface="Poppins Bold"/>
                <a:cs typeface="Poppins Bold"/>
                <a:sym typeface="Poppins Bold"/>
              </a:rPr>
              <a:t>KELAS : C</a:t>
            </a:r>
          </a:p>
          <a:p>
            <a:pPr algn="ctr">
              <a:lnSpc>
                <a:spcPts val="3848"/>
              </a:lnSpc>
            </a:pPr>
            <a:r>
              <a:rPr lang="en-US" sz="2748" b="true">
                <a:solidFill>
                  <a:srgbClr val="A74B4B"/>
                </a:solidFill>
                <a:latin typeface="Poppins Bold"/>
                <a:ea typeface="Poppins Bold"/>
                <a:cs typeface="Poppins Bold"/>
                <a:sym typeface="Poppins Bold"/>
              </a:rPr>
              <a:t>Dosen Pengampu : Ali Tarmuji, S.T., M.Cs.</a:t>
            </a:r>
          </a:p>
          <a:p>
            <a:pPr algn="ctr">
              <a:lnSpc>
                <a:spcPts val="3848"/>
              </a:lnSpc>
            </a:pPr>
          </a:p>
          <a:p>
            <a:pPr algn="ctr">
              <a:lnSpc>
                <a:spcPts val="3848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1182383">
            <a:off x="5431081" y="8834653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6097" y="387627"/>
            <a:ext cx="17111031" cy="9360470"/>
          </a:xfrm>
          <a:custGeom>
            <a:avLst/>
            <a:gdLst/>
            <a:ahLst/>
            <a:cxnLst/>
            <a:rect r="r" b="b" t="t" l="l"/>
            <a:pathLst>
              <a:path h="9360470" w="17111031">
                <a:moveTo>
                  <a:pt x="0" y="0"/>
                </a:moveTo>
                <a:lnTo>
                  <a:pt x="17111032" y="0"/>
                </a:lnTo>
                <a:lnTo>
                  <a:pt x="17111032" y="9360470"/>
                </a:lnTo>
                <a:lnTo>
                  <a:pt x="0" y="936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95" r="0" b="-1089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352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58138" y="7611434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5"/>
                </a:lnTo>
                <a:lnTo>
                  <a:pt x="0" y="311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547077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058" y="1345247"/>
            <a:ext cx="9751884" cy="9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PENDAHULUAN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3719388" y="-527893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7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7" y="0"/>
                </a:lnTo>
                <a:lnTo>
                  <a:pt x="6356137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48214" y="355463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98216">
            <a:off x="-1357855" y="122668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70613">
            <a:off x="15905487" y="7159333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1696" y="2695143"/>
            <a:ext cx="13641659" cy="501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Perkembangan teknologi informasi mendorong digitalisasi dalam berbagai bidang usaha, termasuk usaha tanaman hias.</a:t>
            </a:r>
          </a:p>
          <a:p>
            <a:pPr algn="ctr">
              <a:lnSpc>
                <a:spcPts val="4393"/>
              </a:lnSpc>
            </a:pPr>
          </a:p>
          <a:p>
            <a:pPr algn="ctr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Pengelolaan inventaris tanaman secara manual berisiko menimbulkan kesalahan dan kehilangan data.</a:t>
            </a:r>
          </a:p>
          <a:p>
            <a:pPr algn="ctr">
              <a:lnSpc>
                <a:spcPts val="4393"/>
              </a:lnSpc>
            </a:pPr>
          </a:p>
          <a:p>
            <a:pPr algn="ctr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Aplikasi SPIM dibuat sebagai solusi pengelolaan inventaris yang terstruktur dan efisien.</a:t>
            </a:r>
          </a:p>
          <a:p>
            <a:pPr algn="ctr" marL="0" indent="0" lvl="0">
              <a:lnSpc>
                <a:spcPts val="439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352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58138" y="7611434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5"/>
                </a:lnTo>
                <a:lnTo>
                  <a:pt x="0" y="311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547077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058" y="1345247"/>
            <a:ext cx="9751884" cy="9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LATAR BELAKANG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3719388" y="-527893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7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7" y="0"/>
                </a:lnTo>
                <a:lnTo>
                  <a:pt x="6356137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48214" y="355463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98216">
            <a:off x="-1357855" y="122668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70613">
            <a:off x="15905487" y="7159333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1696" y="2695143"/>
            <a:ext cx="13641659" cy="556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Perkembangan teknologi informasi mendorong digitalisasi dalam berbagai bidang usaha, termasuk usaha tanaman hias.</a:t>
            </a:r>
          </a:p>
          <a:p>
            <a:pPr algn="ctr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 Namun, pada kenyataannya masih banyak pelaku usaha tanaman hias yang melakukan pencatatan inventaris secara manual menggunakan buku atau catatan sederhana.</a:t>
            </a:r>
          </a:p>
          <a:p>
            <a:pPr algn="ctr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 Cara ini berisiko menimbulkan kesalahan pencatatan, kehilangan data, serta kesulitan dalam monitoring stok dan kondisi tanaman.</a:t>
            </a:r>
          </a:p>
          <a:p>
            <a:pPr algn="ctr" marL="0" indent="0" lvl="0">
              <a:lnSpc>
                <a:spcPts val="4393"/>
              </a:lnSpc>
            </a:pPr>
            <a:r>
              <a:rPr lang="en-US" sz="3138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 Oleh karena itu, diperlukan sebuah aplikasi berbasis teknologi yang mampu mengelola data inventaris tanaman secara terstruktur, efisien, dan akurat.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76442" y="-1763254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9942" y="746326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390195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058" y="526418"/>
            <a:ext cx="9751884" cy="9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RUMUSAN MASALAH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2149368" y="-5300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26739" y="4894840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577725">
            <a:off x="15738904" y="113175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159342">
            <a:off x="-1391678" y="7419538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41790" y="1919496"/>
            <a:ext cx="14465627" cy="67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Adapun rumusan masalah dalam pembuatan aplikasi ini adalah sebagai berikut:</a:t>
            </a:r>
          </a:p>
          <a:p>
            <a:pPr algn="ctr" marL="547202" indent="-273601" lvl="1">
              <a:lnSpc>
                <a:spcPts val="3548"/>
              </a:lnSpc>
              <a:buAutoNum type="arabicPeriod" startAt="1"/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Bagaimana merancang aplikasi pengelolaan inventaris tanaman hias berbasis Java yang dapat mengelola data tanaman secara efektif dan efisien?</a:t>
            </a:r>
          </a:p>
          <a:p>
            <a:pPr algn="ctr" marL="547202" indent="-273601" lvl="1">
              <a:lnSpc>
                <a:spcPts val="3548"/>
              </a:lnSpc>
              <a:buAutoNum type="arabicPeriod" startAt="1"/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Bagaimana menerapkan konsep Object Oriented Programming (enkapsulasi, pewarisan, dan polimorfisme) pada aplikasi SPIM (Sistem Pengelolaan Inventaris Tanaman Hias)?</a:t>
            </a:r>
          </a:p>
          <a:p>
            <a:pPr algn="ctr" marL="547202" indent="-273601" lvl="1">
              <a:lnSpc>
                <a:spcPts val="3548"/>
              </a:lnSpc>
              <a:buAutoNum type="arabicPeriod" startAt="1"/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Bagaimana membuat tampilan output berbasis console yang rapi, informatif, dan terstruktur untuk pengelolaan data inventaris tanaman?</a:t>
            </a:r>
          </a:p>
          <a:p>
            <a:pPr algn="ctr" marL="547202" indent="-273601" lvl="1">
              <a:lnSpc>
                <a:spcPts val="3548"/>
              </a:lnSpc>
              <a:buAutoNum type="arabicPeriod" startAt="1"/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Bagaimana mengimplementasikan fitur CRUD (Create, Read, Update, Delete) untuk pengelolaan data tanaman dalam sistem?</a:t>
            </a:r>
          </a:p>
          <a:p>
            <a:pPr algn="ctr" marL="547202" indent="-273601" lvl="1">
              <a:lnSpc>
                <a:spcPts val="3548"/>
              </a:lnSpc>
              <a:buAutoNum type="arabicPeriod" startAt="1"/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Bagaimana melakukan penyimpanan data secara persisten menggunakan file teks agar data tidak hilang saat aplikasi ditutup?</a:t>
            </a:r>
          </a:p>
          <a:p>
            <a:pPr algn="ctr" marL="547202" indent="-273601" lvl="1">
              <a:lnSpc>
                <a:spcPts val="3548"/>
              </a:lnSpc>
              <a:buAutoNum type="arabicPeriod" startAt="1"/>
            </a:pPr>
            <a:r>
              <a:rPr lang="en-US" sz="253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Bagaimana membuat sistem pelaporan statistik yang dapat memberikan informasi kondisi dan stok tanaman secara otomatis?</a:t>
            </a:r>
          </a:p>
          <a:p>
            <a:pPr algn="ctr" marL="0" indent="0" lvl="0">
              <a:lnSpc>
                <a:spcPts val="354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18872" y="438503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5967" y="-1418011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9942" y="746326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390195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058" y="1146978"/>
            <a:ext cx="9751884" cy="257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DESKRIPSI UMUM APLIKASI</a:t>
            </a:r>
          </a:p>
          <a:p>
            <a:pPr algn="ctr">
              <a:lnSpc>
                <a:spcPts val="647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2149368" y="-5300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26739" y="4894840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577725">
            <a:off x="15738904" y="113175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159342">
            <a:off x="-1391678" y="7419538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13300" y="4050345"/>
            <a:ext cx="14694117" cy="340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4"/>
              </a:lnSpc>
            </a:pPr>
            <a:r>
              <a:rPr lang="en-US" sz="277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SPIM adalah aplikasi berbasis Java console untuk usaha tanaman hias skala kecil hingga menengah.</a:t>
            </a:r>
          </a:p>
          <a:p>
            <a:pPr algn="ctr">
              <a:lnSpc>
                <a:spcPts val="3884"/>
              </a:lnSpc>
            </a:pPr>
          </a:p>
          <a:p>
            <a:pPr algn="ctr">
              <a:lnSpc>
                <a:spcPts val="3884"/>
              </a:lnSpc>
            </a:pPr>
            <a:r>
              <a:rPr lang="en-US" sz="277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Aplikasi ini mengelola data tanaman, stok, dan kondisi tanaman.</a:t>
            </a:r>
          </a:p>
          <a:p>
            <a:pPr algn="ctr">
              <a:lnSpc>
                <a:spcPts val="3884"/>
              </a:lnSpc>
            </a:pPr>
          </a:p>
          <a:p>
            <a:pPr algn="ctr">
              <a:lnSpc>
                <a:spcPts val="3884"/>
              </a:lnSpc>
            </a:pPr>
            <a:r>
              <a:rPr lang="en-US" sz="2774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Tampilan aplikasi berbasis menu sehingga mudah digunakan.</a:t>
            </a:r>
          </a:p>
          <a:p>
            <a:pPr algn="ctr">
              <a:lnSpc>
                <a:spcPts val="388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352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58138" y="7611434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5"/>
                </a:lnTo>
                <a:lnTo>
                  <a:pt x="0" y="311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547077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058" y="1345247"/>
            <a:ext cx="9751884" cy="9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TUJUAN APLIKASI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3719388" y="-527893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7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7" y="0"/>
                </a:lnTo>
                <a:lnTo>
                  <a:pt x="6356137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48214" y="355463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98216">
            <a:off x="-1357855" y="122668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70613">
            <a:off x="15905487" y="7159333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73351" y="3294521"/>
            <a:ext cx="12402432" cy="416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4"/>
              </a:lnSpc>
            </a:pPr>
            <a:r>
              <a:rPr lang="en-US" sz="2931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Membantu pengelolaan data inventaris tanaman hias.</a:t>
            </a:r>
          </a:p>
          <a:p>
            <a:pPr algn="ctr">
              <a:lnSpc>
                <a:spcPts val="4104"/>
              </a:lnSpc>
            </a:pPr>
          </a:p>
          <a:p>
            <a:pPr algn="ctr">
              <a:lnSpc>
                <a:spcPts val="4104"/>
              </a:lnSpc>
            </a:pPr>
            <a:r>
              <a:rPr lang="en-US" sz="2931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Menerapkan konsep Object Oriented Programming (OOP) menggunakan Java.</a:t>
            </a:r>
          </a:p>
          <a:p>
            <a:pPr algn="ctr">
              <a:lnSpc>
                <a:spcPts val="4104"/>
              </a:lnSpc>
            </a:pPr>
          </a:p>
          <a:p>
            <a:pPr algn="ctr">
              <a:lnSpc>
                <a:spcPts val="4104"/>
              </a:lnSpc>
            </a:pPr>
            <a:r>
              <a:rPr lang="en-US" sz="2931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Menyediakan sistem pencatatan dan monitoring tanaman yang sistematis.</a:t>
            </a:r>
          </a:p>
          <a:p>
            <a:pPr algn="ctr" marL="0" indent="0" lvl="0">
              <a:lnSpc>
                <a:spcPts val="410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7257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9942" y="746326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390195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2606250" y="-1193356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7" y="3117564"/>
                </a:lnTo>
                <a:lnTo>
                  <a:pt x="6356137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6826739" y="4894840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5738904" y="113175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00737">
            <a:off x="1939134" y="2415728"/>
            <a:ext cx="6544311" cy="6377728"/>
          </a:xfrm>
          <a:custGeom>
            <a:avLst/>
            <a:gdLst/>
            <a:ahLst/>
            <a:cxnLst/>
            <a:rect r="r" b="b" t="t" l="l"/>
            <a:pathLst>
              <a:path h="6377728" w="6544311">
                <a:moveTo>
                  <a:pt x="0" y="0"/>
                </a:moveTo>
                <a:lnTo>
                  <a:pt x="6544311" y="0"/>
                </a:lnTo>
                <a:lnTo>
                  <a:pt x="6544311" y="6377728"/>
                </a:lnTo>
                <a:lnTo>
                  <a:pt x="0" y="6377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82368" y="3812753"/>
            <a:ext cx="5166451" cy="373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001" indent="-294500" lvl="1">
              <a:lnSpc>
                <a:spcPts val="3819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Tambah data tanaman</a:t>
            </a:r>
          </a:p>
          <a:p>
            <a:pPr algn="l" marL="589001" indent="-294500" lvl="1">
              <a:lnSpc>
                <a:spcPts val="3819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Lihat data inventaris</a:t>
            </a:r>
          </a:p>
          <a:p>
            <a:pPr algn="l" marL="589001" indent="-294500" lvl="1">
              <a:lnSpc>
                <a:spcPts val="3819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Update data tanaman</a:t>
            </a:r>
          </a:p>
          <a:p>
            <a:pPr algn="l" marL="589001" indent="-294500" lvl="1">
              <a:lnSpc>
                <a:spcPts val="3819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Hapus data tanaman</a:t>
            </a:r>
          </a:p>
          <a:p>
            <a:pPr algn="l" marL="589001" indent="-294500" lvl="1">
              <a:lnSpc>
                <a:spcPts val="3819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Laporan inventaris</a:t>
            </a:r>
          </a:p>
          <a:p>
            <a:pPr algn="l">
              <a:lnSpc>
                <a:spcPts val="3819"/>
              </a:lnSpc>
            </a:pPr>
          </a:p>
          <a:p>
            <a:pPr algn="l">
              <a:lnSpc>
                <a:spcPts val="3539"/>
              </a:lnSpc>
            </a:pPr>
          </a:p>
          <a:p>
            <a:pPr algn="just" marL="0" indent="0" lvl="0">
              <a:lnSpc>
                <a:spcPts val="32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97395" y="938194"/>
            <a:ext cx="7286348" cy="192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4278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DESKRIPSI UMUM APLIKASI</a:t>
            </a:r>
          </a:p>
          <a:p>
            <a:pPr algn="ctr">
              <a:lnSpc>
                <a:spcPts val="483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200737">
            <a:off x="10448472" y="2415728"/>
            <a:ext cx="6544311" cy="6377728"/>
          </a:xfrm>
          <a:custGeom>
            <a:avLst/>
            <a:gdLst/>
            <a:ahLst/>
            <a:cxnLst/>
            <a:rect r="r" b="b" t="t" l="l"/>
            <a:pathLst>
              <a:path h="6377728" w="6544311">
                <a:moveTo>
                  <a:pt x="0" y="0"/>
                </a:moveTo>
                <a:lnTo>
                  <a:pt x="6544310" y="0"/>
                </a:lnTo>
                <a:lnTo>
                  <a:pt x="6544310" y="6377728"/>
                </a:lnTo>
                <a:lnTo>
                  <a:pt x="0" y="6377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578861" y="3172224"/>
            <a:ext cx="4882162" cy="478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SPIM adalah aplikasi berbasis Java console untuk usaha tanaman hias skala kecil hingga menengah.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Aplikasi ini mengelola data tanaman, stok, dan kondisi tanaman.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Tampilan aplikasi berbasis menu sehingga mudah digunakan.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61063"/>
            <a:ext cx="6850272" cy="66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5"/>
              </a:lnSpc>
            </a:pPr>
            <a:r>
              <a:rPr lang="en-US" sz="4022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FITUR UTAMA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7159342">
            <a:off x="-947374" y="8967864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9945" y="808251"/>
            <a:ext cx="13748109" cy="8450049"/>
          </a:xfrm>
          <a:custGeom>
            <a:avLst/>
            <a:gdLst/>
            <a:ahLst/>
            <a:cxnLst/>
            <a:rect r="r" b="b" t="t" l="l"/>
            <a:pathLst>
              <a:path h="8450049" w="13748109">
                <a:moveTo>
                  <a:pt x="0" y="0"/>
                </a:moveTo>
                <a:lnTo>
                  <a:pt x="13748110" y="0"/>
                </a:lnTo>
                <a:lnTo>
                  <a:pt x="13748110" y="8450049"/>
                </a:lnTo>
                <a:lnTo>
                  <a:pt x="0" y="8450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2" r="0" b="-570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7257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49368" y="8023271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6" y="0"/>
                </a:lnTo>
                <a:lnTo>
                  <a:pt x="6356136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547077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9445" y="2043001"/>
            <a:ext cx="6715714" cy="60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3695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RUANG LINGKUP APLIKASI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4081232" y="-102693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6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6" y="0"/>
                </a:lnTo>
                <a:lnTo>
                  <a:pt x="6356136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48214" y="355463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98216">
            <a:off x="-1357855" y="122668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70613">
            <a:off x="15905487" y="7159333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230" y="2949363"/>
            <a:ext cx="7634144" cy="5598884"/>
          </a:xfrm>
          <a:custGeom>
            <a:avLst/>
            <a:gdLst/>
            <a:ahLst/>
            <a:cxnLst/>
            <a:rect r="r" b="b" t="t" l="l"/>
            <a:pathLst>
              <a:path h="5598884" w="7634144">
                <a:moveTo>
                  <a:pt x="0" y="0"/>
                </a:moveTo>
                <a:lnTo>
                  <a:pt x="7634144" y="0"/>
                </a:lnTo>
                <a:lnTo>
                  <a:pt x="7634144" y="5598885"/>
                </a:lnTo>
                <a:lnTo>
                  <a:pt x="0" y="559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02676" y="2949363"/>
            <a:ext cx="7634144" cy="5598884"/>
          </a:xfrm>
          <a:custGeom>
            <a:avLst/>
            <a:gdLst/>
            <a:ahLst/>
            <a:cxnLst/>
            <a:rect r="r" b="b" t="t" l="l"/>
            <a:pathLst>
              <a:path h="5598884" w="7634144">
                <a:moveTo>
                  <a:pt x="0" y="0"/>
                </a:moveTo>
                <a:lnTo>
                  <a:pt x="7634144" y="0"/>
                </a:lnTo>
                <a:lnTo>
                  <a:pt x="7634144" y="5598885"/>
                </a:lnTo>
                <a:lnTo>
                  <a:pt x="0" y="559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70230" y="2714458"/>
            <a:ext cx="1171575" cy="117157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4B4B"/>
            </a:solidFill>
            <a:ln w="66675" cap="sq">
              <a:solidFill>
                <a:srgbClr val="FFEFF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58613" y="3943183"/>
            <a:ext cx="6457471" cy="335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8401" indent="-299200" lvl="1">
              <a:lnSpc>
                <a:spcPts val="3880"/>
              </a:lnSpc>
              <a:buFont typeface="Arial"/>
              <a:buChar char="•"/>
            </a:pPr>
            <a:r>
              <a:rPr lang="en-US" sz="27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Pengelolaan data inventaris tanaman hias.</a:t>
            </a:r>
          </a:p>
          <a:p>
            <a:pPr algn="just" marL="598401" indent="-299200" lvl="1">
              <a:lnSpc>
                <a:spcPts val="3880"/>
              </a:lnSpc>
              <a:buFont typeface="Arial"/>
              <a:buChar char="•"/>
            </a:pPr>
            <a:r>
              <a:rPr lang="en-US" sz="27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Proses input, update, dan laporan data tanaman.</a:t>
            </a:r>
          </a:p>
          <a:p>
            <a:pPr algn="just" marL="598401" indent="-299200" lvl="1">
              <a:lnSpc>
                <a:spcPts val="3880"/>
              </a:lnSpc>
              <a:buFont typeface="Arial"/>
              <a:buChar char="•"/>
            </a:pPr>
            <a:r>
              <a:rPr lang="en-US" sz="27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Aplikasi berbasis console dan belum menggunakan database.</a:t>
            </a:r>
          </a:p>
          <a:p>
            <a:pPr algn="just" marL="0" indent="0" lvl="0">
              <a:lnSpc>
                <a:spcPts val="328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090967" y="3943183"/>
            <a:ext cx="6057562" cy="373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Enkapsulasi: menjaga keamanan data tanaman.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Pewarisan: membentuk struktur kelas tanaman.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Polimorfisme: menampilkan perilaku berbeda pada jenis tanaman.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70110" y="2989469"/>
            <a:ext cx="571815" cy="57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3459">
                <a:solidFill>
                  <a:srgbClr val="FFFFFF"/>
                </a:solidFill>
                <a:latin typeface="Mango AC"/>
                <a:ea typeface="Mango AC"/>
                <a:cs typeface="Mango AC"/>
                <a:sym typeface="Mango AC"/>
              </a:rPr>
              <a:t>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53525" y="2714458"/>
            <a:ext cx="1171575" cy="11715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4B4B"/>
            </a:solidFill>
            <a:ln w="66675" cap="sq">
              <a:solidFill>
                <a:srgbClr val="FFEFF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53405" y="2989469"/>
            <a:ext cx="571815" cy="57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3459">
                <a:solidFill>
                  <a:srgbClr val="FFFFFF"/>
                </a:solidFill>
                <a:latin typeface="Mango AC"/>
                <a:ea typeface="Mango AC"/>
                <a:cs typeface="Mango AC"/>
                <a:sym typeface="Mango AC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3178" y="1575072"/>
            <a:ext cx="6715714" cy="113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3695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KONSEP OOP YG DIGUNAKAN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352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9942" y="746326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390195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7524" y="1938546"/>
            <a:ext cx="7716476" cy="7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4530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ALUR KERJA SISTEM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2606250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7" y="3117564"/>
                </a:lnTo>
                <a:lnTo>
                  <a:pt x="6356137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26739" y="4894840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577725">
            <a:off x="15738904" y="113175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159342">
            <a:off x="-1391678" y="7419538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8613" y="3047021"/>
            <a:ext cx="6057562" cy="373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Pengguna menjalankan aplikasi.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Sistem menampilkan menu utama.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Pengguna memilih fitur.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Sistem memproses data.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Data disimpan ke file teks.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53525" y="1938546"/>
            <a:ext cx="7716476" cy="139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4530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HASIL AKHIR APLIKASI</a:t>
            </a:r>
          </a:p>
          <a:p>
            <a:pPr algn="ctr">
              <a:lnSpc>
                <a:spcPts val="51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982982" y="3037496"/>
            <a:ext cx="6057562" cy="338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Aplikasi mampu mengelola data inventaris tanaman.</a:t>
            </a:r>
          </a:p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Output ditampilkan secara rapi.</a:t>
            </a:r>
          </a:p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Data tersimpan secara permanen.</a:t>
            </a:r>
          </a:p>
          <a:p>
            <a:pPr algn="just" marL="0" indent="0" lvl="0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-272331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82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93329" y="8455887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6" y="0"/>
                </a:lnTo>
                <a:lnTo>
                  <a:pt x="6356136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-826789" y="4042766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2"/>
                </a:lnTo>
                <a:lnTo>
                  <a:pt x="0" y="13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178068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7717030" y="473116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6065475" y="16476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59342">
            <a:off x="-1391678" y="915073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630432"/>
            <a:ext cx="11301259" cy="5575788"/>
          </a:xfrm>
          <a:custGeom>
            <a:avLst/>
            <a:gdLst/>
            <a:ahLst/>
            <a:cxnLst/>
            <a:rect r="r" b="b" t="t" l="l"/>
            <a:pathLst>
              <a:path h="5575788" w="11301259">
                <a:moveTo>
                  <a:pt x="0" y="0"/>
                </a:moveTo>
                <a:lnTo>
                  <a:pt x="11301259" y="0"/>
                </a:lnTo>
                <a:lnTo>
                  <a:pt x="11301259" y="5575788"/>
                </a:lnTo>
                <a:lnTo>
                  <a:pt x="0" y="55757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873" t="0" r="-687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263694" y="1492107"/>
            <a:ext cx="9751884" cy="9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MENU UTAMA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93713" y="484395"/>
            <a:ext cx="5799231" cy="1000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ampilan pada gambar ini merupakan menu utama aplikasi SPIM (Smart Plant Inventory Management) yang dibuat berbasis console menggunakan bahasa pemrograman Java.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Menu utama berfungsi sebagai pusat navigasi aplikasi, dimana pengguna dapat memilih berbagai fitur pengelolaan inventaris tanaman hias.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Pada menu ini, pengguna disajikan beberapa pilihan seperti menambah data tanaman, melihat data inventaris, memperbarui data tanaman, menghapus data tanaman, menampilkan laporan inventaris, dan keluar dari aplikasi.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Menu dibuat secara terstruktur dan interaktif sehingga memudahkan pengguna dalam mengoperasikan aplikasi meskipun berbasis teks.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Validasi input juga diterapkan agar pengguna hanya dapat memilih menu yang tersedia.</a:t>
            </a:r>
          </a:p>
          <a:p>
            <a:pPr algn="ctr" marL="0" indent="0" lvl="0">
              <a:lnSpc>
                <a:spcPts val="321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-272331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82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93329" y="8455887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6" y="0"/>
                </a:lnTo>
                <a:lnTo>
                  <a:pt x="6356136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-826789" y="4042766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2"/>
                </a:lnTo>
                <a:lnTo>
                  <a:pt x="0" y="13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178068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7717030" y="473116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6065475" y="16476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59342">
            <a:off x="-1391678" y="915073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4666" y="1351591"/>
            <a:ext cx="9440182" cy="7123361"/>
          </a:xfrm>
          <a:custGeom>
            <a:avLst/>
            <a:gdLst/>
            <a:ahLst/>
            <a:cxnLst/>
            <a:rect r="r" b="b" t="t" l="l"/>
            <a:pathLst>
              <a:path h="7123361" w="9440182">
                <a:moveTo>
                  <a:pt x="0" y="0"/>
                </a:moveTo>
                <a:lnTo>
                  <a:pt x="9440181" y="0"/>
                </a:lnTo>
                <a:lnTo>
                  <a:pt x="9440181" y="7123360"/>
                </a:lnTo>
                <a:lnTo>
                  <a:pt x="0" y="7123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23624" y="7081155"/>
            <a:ext cx="10247773" cy="4354291"/>
          </a:xfrm>
          <a:custGeom>
            <a:avLst/>
            <a:gdLst/>
            <a:ahLst/>
            <a:cxnLst/>
            <a:rect r="r" b="b" t="t" l="l"/>
            <a:pathLst>
              <a:path h="4354291" w="10247773">
                <a:moveTo>
                  <a:pt x="0" y="0"/>
                </a:moveTo>
                <a:lnTo>
                  <a:pt x="10247773" y="0"/>
                </a:lnTo>
                <a:lnTo>
                  <a:pt x="10247773" y="4354290"/>
                </a:lnTo>
                <a:lnTo>
                  <a:pt x="0" y="43542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-57150"/>
            <a:ext cx="7792113" cy="140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0"/>
              </a:lnSpc>
            </a:pPr>
            <a:r>
              <a:rPr lang="en-US" sz="4575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MENU TAMBAH DATA TANAMAN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0990" y="85503"/>
            <a:ext cx="8307982" cy="669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259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 ini menampilkan form input data tanaman pada aplikasi SPIM.</a:t>
            </a:r>
          </a:p>
          <a:p>
            <a:pPr algn="ctr">
              <a:lnSpc>
                <a:spcPts val="3163"/>
              </a:lnSpc>
            </a:pPr>
            <a:r>
              <a:rPr lang="en-US" sz="2259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Pada tahap ini, pengguna diminta untuk memasukkan data tanaman secara lengkap, seperti ID tanaman, nama tanaman, jenis tanaman, jumlah stok, kondisi tanaman, serta informasi tambahan sesuai jenis tanaman.</a:t>
            </a:r>
          </a:p>
          <a:p>
            <a:pPr algn="ctr">
              <a:lnSpc>
                <a:spcPts val="3163"/>
              </a:lnSpc>
            </a:pPr>
            <a:r>
              <a:rPr lang="en-US" sz="2259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Aplikasi mendukung beberapa tipe tanaman, yaitu tanaman biasa, tanaman hias indoor, dan tanaman hias outdoor.</a:t>
            </a:r>
          </a:p>
          <a:p>
            <a:pPr algn="ctr">
              <a:lnSpc>
                <a:spcPts val="3163"/>
              </a:lnSpc>
            </a:pPr>
            <a:r>
              <a:rPr lang="en-US" sz="2259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Sistem akan memproses data yang diinput dan melakukan validasi, misalnya memastikan stok tidak bernilai negatif.</a:t>
            </a:r>
          </a:p>
          <a:p>
            <a:pPr algn="ctr">
              <a:lnSpc>
                <a:spcPts val="3163"/>
              </a:lnSpc>
            </a:pPr>
            <a:r>
              <a:rPr lang="en-US" sz="2259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Setelah data berhasil dimasukkan, sistem akan menyimpan data tanaman secara otomatis ke dalam file teks sebagai penyimpanan permanen.</a:t>
            </a:r>
          </a:p>
          <a:p>
            <a:pPr algn="ctr" marL="0" indent="0" lvl="0">
              <a:lnSpc>
                <a:spcPts val="316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1071" y="-794845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82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50904" y="872821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-826789" y="4042766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2"/>
                </a:lnTo>
                <a:lnTo>
                  <a:pt x="0" y="13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178068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7717030" y="473116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6065475" y="16476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59342">
            <a:off x="-1391678" y="915073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092112"/>
            <a:ext cx="12813583" cy="5256680"/>
          </a:xfrm>
          <a:custGeom>
            <a:avLst/>
            <a:gdLst/>
            <a:ahLst/>
            <a:cxnLst/>
            <a:rect r="r" b="b" t="t" l="l"/>
            <a:pathLst>
              <a:path h="5256680" w="12813583">
                <a:moveTo>
                  <a:pt x="0" y="0"/>
                </a:moveTo>
                <a:lnTo>
                  <a:pt x="12813583" y="0"/>
                </a:lnTo>
                <a:lnTo>
                  <a:pt x="12813583" y="5256680"/>
                </a:lnTo>
                <a:lnTo>
                  <a:pt x="0" y="5256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231" t="0" r="-423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1819" y="414675"/>
            <a:ext cx="8347566" cy="150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4901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MENU LIHAT DATA TANAMAN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2824" y="858456"/>
            <a:ext cx="5026148" cy="83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Tampilan ini menunjukkan daftar seluruh data inventaris tanaman hias yang tersimpan dalam sistem.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Data ditampilkan dalam bentuk tabel sederhana berbasis console yang berisi informasi seperti ID tanaman, nama tanaman, jenis tanaman, jumlah stok, kondisi tanaman, dan keterangan tambahan.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Melalui fitur ini, pengguna dapat dengan mudah melakukan monitoring terhadap stok dan kondisi tanaman yang tersedia.</a:t>
            </a:r>
          </a:p>
          <a:p>
            <a:pPr algn="ctr">
              <a:lnSpc>
                <a:spcPts val="3216"/>
              </a:lnSpc>
            </a:pPr>
            <a:r>
              <a:rPr lang="en-US" sz="22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Penampilan data yang rapi dan terstruktur membantu pengguna dalam membaca dan memahami informasi inventaris secara cepat dan akurat.</a:t>
            </a:r>
          </a:p>
          <a:p>
            <a:pPr algn="ctr" marL="0" indent="0" lvl="0">
              <a:lnSpc>
                <a:spcPts val="321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1071" y="-794845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82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50904" y="872821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-826789" y="4042766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2"/>
                </a:lnTo>
                <a:lnTo>
                  <a:pt x="0" y="13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178068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7717030" y="473116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6065475" y="16476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59342">
            <a:off x="-1391678" y="915073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5613" y="1724927"/>
            <a:ext cx="10500243" cy="7386799"/>
          </a:xfrm>
          <a:custGeom>
            <a:avLst/>
            <a:gdLst/>
            <a:ahLst/>
            <a:cxnLst/>
            <a:rect r="r" b="b" t="t" l="l"/>
            <a:pathLst>
              <a:path h="7386799" w="10500243">
                <a:moveTo>
                  <a:pt x="0" y="0"/>
                </a:moveTo>
                <a:lnTo>
                  <a:pt x="10500243" y="0"/>
                </a:lnTo>
                <a:lnTo>
                  <a:pt x="10500243" y="7386799"/>
                </a:lnTo>
                <a:lnTo>
                  <a:pt x="0" y="73867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8247" y="755806"/>
            <a:ext cx="8347566" cy="80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4901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 UPDATE TANAMAN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1607" y="723947"/>
            <a:ext cx="6143444" cy="838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</a:pPr>
            <a:r>
              <a:rPr lang="en-US" sz="23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 ini menampilkan fitur update atau pembaruan data tanaman.</a:t>
            </a:r>
          </a:p>
          <a:p>
            <a:pPr algn="ctr">
              <a:lnSpc>
                <a:spcPts val="3356"/>
              </a:lnSpc>
            </a:pPr>
            <a:r>
              <a:rPr lang="en-US" sz="23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Pada fitur ini, pengguna diminta untuk memasukkan ID tanaman yang ingin diperbarui.</a:t>
            </a:r>
          </a:p>
          <a:p>
            <a:pPr algn="ctr">
              <a:lnSpc>
                <a:spcPts val="3356"/>
              </a:lnSpc>
            </a:pPr>
            <a:r>
              <a:rPr lang="en-US" sz="23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Setelah ID ditemukan, sistem akan menampilkan data lama dan memberikan opsi kepada pengguna untuk mengubah informasi tertentu, seperti stok, kondisi tanaman, atau keterangan tambahan.</a:t>
            </a:r>
          </a:p>
          <a:p>
            <a:pPr algn="ctr">
              <a:lnSpc>
                <a:spcPts val="3356"/>
              </a:lnSpc>
            </a:pPr>
            <a:r>
              <a:rPr lang="en-US" sz="23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Setiap perubahan data akan langsung diproses oleh sistem dan disimpan kembali ke dalam file teks.</a:t>
            </a:r>
          </a:p>
          <a:p>
            <a:pPr algn="ctr">
              <a:lnSpc>
                <a:spcPts val="3356"/>
              </a:lnSpc>
            </a:pPr>
            <a:r>
              <a:rPr lang="en-US" sz="2397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Fitur ini memudahkan pengguna dalam memperbarui data inventaris tanpa harus menghapus dan memasukkan ulang data tanaman.</a:t>
            </a:r>
          </a:p>
          <a:p>
            <a:pPr algn="ctr" marL="0" indent="0" lvl="0">
              <a:lnSpc>
                <a:spcPts val="335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1071" y="-794845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82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50904" y="872821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-826789" y="4042766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2"/>
                </a:lnTo>
                <a:lnTo>
                  <a:pt x="0" y="13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178068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7717030" y="473116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6065475" y="16476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59342">
            <a:off x="-1391678" y="915073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020" y="2227383"/>
            <a:ext cx="11370586" cy="5921787"/>
          </a:xfrm>
          <a:custGeom>
            <a:avLst/>
            <a:gdLst/>
            <a:ahLst/>
            <a:cxnLst/>
            <a:rect r="r" b="b" t="t" l="l"/>
            <a:pathLst>
              <a:path h="5921787" w="11370586">
                <a:moveTo>
                  <a:pt x="0" y="0"/>
                </a:moveTo>
                <a:lnTo>
                  <a:pt x="11370587" y="0"/>
                </a:lnTo>
                <a:lnTo>
                  <a:pt x="11370587" y="5921788"/>
                </a:lnTo>
                <a:lnTo>
                  <a:pt x="0" y="59217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352" t="0" r="-435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8247" y="755806"/>
            <a:ext cx="8347566" cy="80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4901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HAPUS DATA TANAMAN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49586" y="1229258"/>
            <a:ext cx="6602635" cy="785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Tampilan ini menunjukkan fitur penghapusan data tanaman dari sistem inventaris.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Pengguna diminta untuk memasukkan ID tanaman yang akan dihapus.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Sebelum proses penghapusan dilakukan, sistem akan menampilkan konfirmasi kepada pengguna sebagai langkah keamanan untuk menghindari kesalahan penghapusan data.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Apabila pengguna menyetujui, data tanaman akan dihapus dari sistem dan perubahan tersebut akan langsung disimpan ke dalam file teks.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Fitur ini membantu menjaga keakuratan dan kebersihan data inventaris.</a:t>
            </a:r>
          </a:p>
          <a:p>
            <a:pPr algn="ctr" marL="0" indent="0" lvl="0">
              <a:lnSpc>
                <a:spcPts val="349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6253" y="-110215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82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50904" y="8728218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4"/>
                </a:lnTo>
                <a:lnTo>
                  <a:pt x="0" y="311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-826789" y="4042766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2"/>
                </a:lnTo>
                <a:lnTo>
                  <a:pt x="0" y="13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178068" y="-1558782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3117564"/>
                </a:moveTo>
                <a:lnTo>
                  <a:pt x="6356136" y="3117564"/>
                </a:lnTo>
                <a:lnTo>
                  <a:pt x="6356136" y="0"/>
                </a:lnTo>
                <a:lnTo>
                  <a:pt x="0" y="0"/>
                </a:lnTo>
                <a:lnTo>
                  <a:pt x="0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7717030" y="473116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77725">
            <a:off x="16065475" y="16476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59342">
            <a:off x="-1391678" y="9150731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346555"/>
            <a:ext cx="12045797" cy="5683444"/>
          </a:xfrm>
          <a:custGeom>
            <a:avLst/>
            <a:gdLst/>
            <a:ahLst/>
            <a:cxnLst/>
            <a:rect r="r" b="b" t="t" l="l"/>
            <a:pathLst>
              <a:path h="5683444" w="12045797">
                <a:moveTo>
                  <a:pt x="0" y="0"/>
                </a:moveTo>
                <a:lnTo>
                  <a:pt x="12045797" y="0"/>
                </a:lnTo>
                <a:lnTo>
                  <a:pt x="12045797" y="5683444"/>
                </a:lnTo>
                <a:lnTo>
                  <a:pt x="0" y="5683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47581"/>
            <a:ext cx="8347566" cy="150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4901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LAPORAN DATA INVETARIS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5797" y="1229258"/>
            <a:ext cx="6106425" cy="872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 ini menampilkan laporan inventaris tanaman hias yang dihasilkan secara otomatis oleh aplikasi SPIM.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Laporan ini berisi informasi statistik, seperti total jumlah tanaman, total stok keseluruhan, serta rekap kondisi tanaman.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Fitur laporan ini membantu pengguna dalam melakukan evaluasi inventaris dan pengambilan keputusan terkait perawatan, pembelian, atau penjualan tanaman.</a:t>
            </a:r>
          </a:p>
          <a:p>
            <a:pPr algn="ctr">
              <a:lnSpc>
                <a:spcPts val="3491"/>
              </a:lnSpc>
            </a:pPr>
            <a:r>
              <a:rPr lang="en-US" sz="2494" b="true">
                <a:solidFill>
                  <a:srgbClr val="592718"/>
                </a:solidFill>
                <a:latin typeface="Poppins Bold"/>
                <a:ea typeface="Poppins Bold"/>
                <a:cs typeface="Poppins Bold"/>
                <a:sym typeface="Poppins Bold"/>
              </a:rPr>
              <a:t> Dengan adanya laporan inventaris, pengguna tidak perlu menghitung data secara manual karena sistem telah menyajikan informasi secara cepat dan akurat.</a:t>
            </a:r>
          </a:p>
          <a:p>
            <a:pPr algn="ctr" marL="0" indent="0" lvl="0">
              <a:lnSpc>
                <a:spcPts val="3491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-136568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10457" y="1030889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58138" y="7611434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5"/>
                </a:lnTo>
                <a:lnTo>
                  <a:pt x="0" y="311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316211" y="5470770"/>
            <a:ext cx="1126191" cy="1355372"/>
          </a:xfrm>
          <a:custGeom>
            <a:avLst/>
            <a:gdLst/>
            <a:ahLst/>
            <a:cxnLst/>
            <a:rect r="r" b="b" t="t" l="l"/>
            <a:pathLst>
              <a:path h="1355372" w="1126191">
                <a:moveTo>
                  <a:pt x="0" y="0"/>
                </a:moveTo>
                <a:lnTo>
                  <a:pt x="1126191" y="0"/>
                </a:lnTo>
                <a:lnTo>
                  <a:pt x="1126191" y="1355371"/>
                </a:lnTo>
                <a:lnTo>
                  <a:pt x="0" y="1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058" y="1345247"/>
            <a:ext cx="9751884" cy="9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726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KESIMPULAN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3719388" y="-527893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7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7" y="0"/>
                </a:lnTo>
                <a:lnTo>
                  <a:pt x="6356137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5609">
            <a:off x="16848214" y="3554633"/>
            <a:ext cx="1141940" cy="1374326"/>
          </a:xfrm>
          <a:custGeom>
            <a:avLst/>
            <a:gdLst/>
            <a:ahLst/>
            <a:cxnLst/>
            <a:rect r="r" b="b" t="t" l="l"/>
            <a:pathLst>
              <a:path h="1374326" w="1141940">
                <a:moveTo>
                  <a:pt x="0" y="0"/>
                </a:moveTo>
                <a:lnTo>
                  <a:pt x="1141940" y="0"/>
                </a:lnTo>
                <a:lnTo>
                  <a:pt x="1141940" y="1374326"/>
                </a:lnTo>
                <a:lnTo>
                  <a:pt x="0" y="1374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98216">
            <a:off x="-1357855" y="1226687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8"/>
                </a:lnTo>
                <a:lnTo>
                  <a:pt x="0" y="172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70613">
            <a:off x="15905487" y="7159333"/>
            <a:ext cx="3926994" cy="1727877"/>
          </a:xfrm>
          <a:custGeom>
            <a:avLst/>
            <a:gdLst/>
            <a:ahLst/>
            <a:cxnLst/>
            <a:rect r="r" b="b" t="t" l="l"/>
            <a:pathLst>
              <a:path h="1727877" w="3926994">
                <a:moveTo>
                  <a:pt x="0" y="0"/>
                </a:moveTo>
                <a:lnTo>
                  <a:pt x="3926994" y="0"/>
                </a:lnTo>
                <a:lnTo>
                  <a:pt x="3926994" y="1727877"/>
                </a:lnTo>
                <a:lnTo>
                  <a:pt x="0" y="17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21742" y="2825707"/>
            <a:ext cx="11844516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Berdasarkan hasil implementasi, dapat disimpulkan bahwa aplikasi SPIM berhasil menerapkan konsep Object Oriented Programming secara nyata.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 Aplikasi ini mampu membantu pengelolaan inventaris tanaman hias secara terstruktur dan efisien.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000">
                <a:solidFill>
                  <a:srgbClr val="592718"/>
                </a:solidFill>
                <a:latin typeface="Poppins"/>
                <a:ea typeface="Poppins"/>
                <a:cs typeface="Poppins"/>
                <a:sym typeface="Poppins"/>
              </a:rPr>
              <a:t> Dengan demikian, aplikasi SPIM layak digunakan sebagai media pembelajaran sekaligus contoh penerapan OOP dalam kasus nyata.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3525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58138" y="7611434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0" y="0"/>
                </a:moveTo>
                <a:lnTo>
                  <a:pt x="6356137" y="0"/>
                </a:lnTo>
                <a:lnTo>
                  <a:pt x="6356137" y="3117565"/>
                </a:lnTo>
                <a:lnTo>
                  <a:pt x="0" y="311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64110">
            <a:off x="1737515" y="4875671"/>
            <a:ext cx="1487235" cy="1789888"/>
          </a:xfrm>
          <a:custGeom>
            <a:avLst/>
            <a:gdLst/>
            <a:ahLst/>
            <a:cxnLst/>
            <a:rect r="r" b="b" t="t" l="l"/>
            <a:pathLst>
              <a:path h="1789888" w="1487235">
                <a:moveTo>
                  <a:pt x="0" y="0"/>
                </a:moveTo>
                <a:lnTo>
                  <a:pt x="1487235" y="0"/>
                </a:lnTo>
                <a:lnTo>
                  <a:pt x="1487235" y="1789888"/>
                </a:lnTo>
                <a:lnTo>
                  <a:pt x="0" y="17898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719388" y="-527893"/>
            <a:ext cx="6356137" cy="3117564"/>
          </a:xfrm>
          <a:custGeom>
            <a:avLst/>
            <a:gdLst/>
            <a:ahLst/>
            <a:cxnLst/>
            <a:rect r="r" b="b" t="t" l="l"/>
            <a:pathLst>
              <a:path h="3117564" w="6356137">
                <a:moveTo>
                  <a:pt x="6356137" y="3117564"/>
                </a:moveTo>
                <a:lnTo>
                  <a:pt x="0" y="3117564"/>
                </a:lnTo>
                <a:lnTo>
                  <a:pt x="0" y="0"/>
                </a:lnTo>
                <a:lnTo>
                  <a:pt x="6356137" y="0"/>
                </a:lnTo>
                <a:lnTo>
                  <a:pt x="6356137" y="31175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95609">
            <a:off x="15583725" y="3861524"/>
            <a:ext cx="1569130" cy="1888450"/>
          </a:xfrm>
          <a:custGeom>
            <a:avLst/>
            <a:gdLst/>
            <a:ahLst/>
            <a:cxnLst/>
            <a:rect r="r" b="b" t="t" l="l"/>
            <a:pathLst>
              <a:path h="1888450" w="1569130">
                <a:moveTo>
                  <a:pt x="0" y="0"/>
                </a:moveTo>
                <a:lnTo>
                  <a:pt x="1569130" y="0"/>
                </a:lnTo>
                <a:lnTo>
                  <a:pt x="1569130" y="1888450"/>
                </a:lnTo>
                <a:lnTo>
                  <a:pt x="0" y="1888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97704">
            <a:off x="1622000" y="-15651"/>
            <a:ext cx="4757000" cy="2093080"/>
          </a:xfrm>
          <a:custGeom>
            <a:avLst/>
            <a:gdLst/>
            <a:ahLst/>
            <a:cxnLst/>
            <a:rect r="r" b="b" t="t" l="l"/>
            <a:pathLst>
              <a:path h="2093080" w="4757000">
                <a:moveTo>
                  <a:pt x="0" y="0"/>
                </a:moveTo>
                <a:lnTo>
                  <a:pt x="4757000" y="0"/>
                </a:lnTo>
                <a:lnTo>
                  <a:pt x="4757000" y="2093080"/>
                </a:lnTo>
                <a:lnTo>
                  <a:pt x="0" y="2093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149630">
            <a:off x="10532985" y="8416729"/>
            <a:ext cx="4700052" cy="2068023"/>
          </a:xfrm>
          <a:custGeom>
            <a:avLst/>
            <a:gdLst/>
            <a:ahLst/>
            <a:cxnLst/>
            <a:rect r="r" b="b" t="t" l="l"/>
            <a:pathLst>
              <a:path h="2068023" w="4700052">
                <a:moveTo>
                  <a:pt x="0" y="0"/>
                </a:moveTo>
                <a:lnTo>
                  <a:pt x="4700052" y="0"/>
                </a:lnTo>
                <a:lnTo>
                  <a:pt x="4700052" y="2068023"/>
                </a:lnTo>
                <a:lnTo>
                  <a:pt x="0" y="2068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71448" y="2961500"/>
            <a:ext cx="13344609" cy="421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7"/>
              </a:lnSpc>
            </a:pPr>
            <a:r>
              <a:rPr lang="en-US" sz="13740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TERIMA</a:t>
            </a:r>
          </a:p>
          <a:p>
            <a:pPr algn="ctr">
              <a:lnSpc>
                <a:spcPts val="15527"/>
              </a:lnSpc>
            </a:pPr>
            <a:r>
              <a:rPr lang="en-US" sz="13740">
                <a:solidFill>
                  <a:srgbClr val="A74B4B"/>
                </a:solidFill>
                <a:latin typeface="Mango AC"/>
                <a:ea typeface="Mango AC"/>
                <a:cs typeface="Mango AC"/>
                <a:sym typeface="Mango AC"/>
              </a:rPr>
              <a:t>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DAG95zXS2QM</dc:identifier>
  <dcterms:modified xsi:type="dcterms:W3CDTF">2011-08-01T06:04:30Z</dcterms:modified>
  <cp:revision>1</cp:revision>
  <dc:title>tugas presentasi</dc:title>
</cp:coreProperties>
</file>