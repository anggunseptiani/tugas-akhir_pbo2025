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Mango AC" charset="1" panose="00000000000000000000"/>
      <p:regular r:id="rId29"/>
    </p:embeddedFont>
    <p:embeddedFont>
      <p:font typeface="Poppins Bold" charset="1" panose="00000800000000000000"/>
      <p:regular r:id="rId30"/>
    </p:embeddedFont>
    <p:embeddedFont>
      <p:font typeface="Poppins" charset="1" panose="000005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485037" y="388432"/>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8418" y="-77893"/>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07805"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778372" y="-1470699"/>
            <a:ext cx="6433931" cy="7642899"/>
          </a:xfrm>
          <a:custGeom>
            <a:avLst/>
            <a:gdLst/>
            <a:ahLst/>
            <a:cxnLst/>
            <a:rect r="r" b="b" t="t" l="l"/>
            <a:pathLst>
              <a:path h="7642899" w="6433931">
                <a:moveTo>
                  <a:pt x="0" y="0"/>
                </a:moveTo>
                <a:lnTo>
                  <a:pt x="6433931" y="0"/>
                </a:lnTo>
                <a:lnTo>
                  <a:pt x="6433931" y="7642899"/>
                </a:lnTo>
                <a:lnTo>
                  <a:pt x="0" y="76428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0">
            <a:off x="14297025" y="3789985"/>
            <a:ext cx="6433931" cy="7642899"/>
          </a:xfrm>
          <a:custGeom>
            <a:avLst/>
            <a:gdLst/>
            <a:ahLst/>
            <a:cxnLst/>
            <a:rect r="r" b="b" t="t" l="l"/>
            <a:pathLst>
              <a:path h="7642899" w="6433931">
                <a:moveTo>
                  <a:pt x="6433931" y="7642899"/>
                </a:moveTo>
                <a:lnTo>
                  <a:pt x="0" y="7642899"/>
                </a:lnTo>
                <a:lnTo>
                  <a:pt x="0" y="0"/>
                </a:lnTo>
                <a:lnTo>
                  <a:pt x="6433931" y="0"/>
                </a:lnTo>
                <a:lnTo>
                  <a:pt x="6433931" y="764289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198756">
            <a:off x="3950236" y="176349"/>
            <a:ext cx="1416453" cy="1704702"/>
          </a:xfrm>
          <a:custGeom>
            <a:avLst/>
            <a:gdLst/>
            <a:ahLst/>
            <a:cxnLst/>
            <a:rect r="r" b="b" t="t" l="l"/>
            <a:pathLst>
              <a:path h="1704702" w="1416453">
                <a:moveTo>
                  <a:pt x="0" y="0"/>
                </a:moveTo>
                <a:lnTo>
                  <a:pt x="1416453" y="0"/>
                </a:lnTo>
                <a:lnTo>
                  <a:pt x="1416453" y="1704702"/>
                </a:lnTo>
                <a:lnTo>
                  <a:pt x="0" y="17047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835695" y="1673915"/>
            <a:ext cx="10123767" cy="3051419"/>
          </a:xfrm>
          <a:prstGeom prst="rect">
            <a:avLst/>
          </a:prstGeom>
        </p:spPr>
        <p:txBody>
          <a:bodyPr anchor="t" rtlCol="false" tIns="0" lIns="0" bIns="0" rIns="0">
            <a:spAutoFit/>
          </a:bodyPr>
          <a:lstStyle/>
          <a:p>
            <a:pPr algn="ctr">
              <a:lnSpc>
                <a:spcPts val="4695"/>
              </a:lnSpc>
            </a:pPr>
            <a:r>
              <a:rPr lang="en-US" sz="4155">
                <a:solidFill>
                  <a:srgbClr val="A74B4B"/>
                </a:solidFill>
                <a:latin typeface="Mango AC"/>
                <a:ea typeface="Mango AC"/>
                <a:cs typeface="Mango AC"/>
                <a:sym typeface="Mango AC"/>
              </a:rPr>
              <a:t>SISTEM MANAJEMEN INVENTARIS TANAMAN HIAS CERDAS (SMART PLANT INVENTORY MANAGEMENT - SPIM)</a:t>
            </a:r>
          </a:p>
          <a:p>
            <a:pPr algn="ctr">
              <a:lnSpc>
                <a:spcPts val="4695"/>
              </a:lnSpc>
            </a:pPr>
          </a:p>
        </p:txBody>
      </p:sp>
      <p:sp>
        <p:nvSpPr>
          <p:cNvPr name="Freeform 9" id="9"/>
          <p:cNvSpPr/>
          <p:nvPr/>
        </p:nvSpPr>
        <p:spPr>
          <a:xfrm flipH="false" flipV="false" rot="0">
            <a:off x="16365246" y="4818685"/>
            <a:ext cx="1601031" cy="2057400"/>
          </a:xfrm>
          <a:custGeom>
            <a:avLst/>
            <a:gdLst/>
            <a:ahLst/>
            <a:cxnLst/>
            <a:rect r="r" b="b" t="t" l="l"/>
            <a:pathLst>
              <a:path h="2057400" w="1601031">
                <a:moveTo>
                  <a:pt x="0" y="0"/>
                </a:moveTo>
                <a:lnTo>
                  <a:pt x="1601032" y="0"/>
                </a:lnTo>
                <a:lnTo>
                  <a:pt x="1601032"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38593" y="3218675"/>
            <a:ext cx="1601031" cy="2057400"/>
          </a:xfrm>
          <a:custGeom>
            <a:avLst/>
            <a:gdLst/>
            <a:ahLst/>
            <a:cxnLst/>
            <a:rect r="r" b="b" t="t" l="l"/>
            <a:pathLst>
              <a:path h="2057400" w="1601031">
                <a:moveTo>
                  <a:pt x="0" y="0"/>
                </a:moveTo>
                <a:lnTo>
                  <a:pt x="1601031" y="0"/>
                </a:lnTo>
                <a:lnTo>
                  <a:pt x="160103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0">
            <a:off x="13084388" y="-530082"/>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198756">
            <a:off x="12632690" y="8707705"/>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1055429">
            <a:off x="9552422" y="-475506"/>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5845640" y="5811632"/>
            <a:ext cx="6261163" cy="3886960"/>
          </a:xfrm>
          <a:prstGeom prst="rect">
            <a:avLst/>
          </a:prstGeom>
        </p:spPr>
        <p:txBody>
          <a:bodyPr anchor="t" rtlCol="false" tIns="0" lIns="0" bIns="0" rIns="0">
            <a:spAutoFit/>
          </a:bodyPr>
          <a:lstStyle/>
          <a:p>
            <a:pPr algn="ctr">
              <a:lnSpc>
                <a:spcPts val="3848"/>
              </a:lnSpc>
            </a:pPr>
            <a:r>
              <a:rPr lang="en-US" sz="2748" b="true">
                <a:solidFill>
                  <a:srgbClr val="A74B4B"/>
                </a:solidFill>
                <a:latin typeface="Poppins Bold"/>
                <a:ea typeface="Poppins Bold"/>
                <a:cs typeface="Poppins Bold"/>
                <a:sym typeface="Poppins Bold"/>
              </a:rPr>
              <a:t>Disusun oleh: </a:t>
            </a:r>
          </a:p>
          <a:p>
            <a:pPr algn="ctr">
              <a:lnSpc>
                <a:spcPts val="3848"/>
              </a:lnSpc>
            </a:pPr>
            <a:r>
              <a:rPr lang="en-US" sz="2748" b="true">
                <a:solidFill>
                  <a:srgbClr val="A74B4B"/>
                </a:solidFill>
                <a:latin typeface="Poppins Bold"/>
                <a:ea typeface="Poppins Bold"/>
                <a:cs typeface="Poppins Bold"/>
                <a:sym typeface="Poppins Bold"/>
              </a:rPr>
              <a:t>NAMA : Anggun Septiani</a:t>
            </a:r>
          </a:p>
          <a:p>
            <a:pPr algn="ctr">
              <a:lnSpc>
                <a:spcPts val="3848"/>
              </a:lnSpc>
            </a:pPr>
            <a:r>
              <a:rPr lang="en-US" sz="2748" b="true">
                <a:solidFill>
                  <a:srgbClr val="A74B4B"/>
                </a:solidFill>
                <a:latin typeface="Poppins Bold"/>
                <a:ea typeface="Poppins Bold"/>
                <a:cs typeface="Poppins Bold"/>
                <a:sym typeface="Poppins Bold"/>
              </a:rPr>
              <a:t>NIM : 2400018147</a:t>
            </a:r>
          </a:p>
          <a:p>
            <a:pPr algn="ctr">
              <a:lnSpc>
                <a:spcPts val="3848"/>
              </a:lnSpc>
            </a:pPr>
            <a:r>
              <a:rPr lang="en-US" sz="2748" b="true">
                <a:solidFill>
                  <a:srgbClr val="A74B4B"/>
                </a:solidFill>
                <a:latin typeface="Poppins Bold"/>
                <a:ea typeface="Poppins Bold"/>
                <a:cs typeface="Poppins Bold"/>
                <a:sym typeface="Poppins Bold"/>
              </a:rPr>
              <a:t>KELAS : C</a:t>
            </a:r>
          </a:p>
          <a:p>
            <a:pPr algn="ctr">
              <a:lnSpc>
                <a:spcPts val="3848"/>
              </a:lnSpc>
            </a:pPr>
            <a:r>
              <a:rPr lang="en-US" sz="2748" b="true">
                <a:solidFill>
                  <a:srgbClr val="A74B4B"/>
                </a:solidFill>
                <a:latin typeface="Poppins Bold"/>
                <a:ea typeface="Poppins Bold"/>
                <a:cs typeface="Poppins Bold"/>
                <a:sym typeface="Poppins Bold"/>
              </a:rPr>
              <a:t>Dosen Pengampu : Ali Tarmuji, S.T., M.Cs.</a:t>
            </a:r>
          </a:p>
          <a:p>
            <a:pPr algn="ctr">
              <a:lnSpc>
                <a:spcPts val="3848"/>
              </a:lnSpc>
            </a:pPr>
          </a:p>
          <a:p>
            <a:pPr algn="ctr">
              <a:lnSpc>
                <a:spcPts val="3848"/>
              </a:lnSpc>
            </a:pPr>
          </a:p>
        </p:txBody>
      </p:sp>
      <p:sp>
        <p:nvSpPr>
          <p:cNvPr name="Freeform 15" id="15"/>
          <p:cNvSpPr/>
          <p:nvPr/>
        </p:nvSpPr>
        <p:spPr>
          <a:xfrm flipH="false" flipV="false" rot="1182383">
            <a:off x="5431081" y="883465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4516245" y="4534767"/>
            <a:ext cx="9255509" cy="1169842"/>
          </a:xfrm>
          <a:prstGeom prst="rect">
            <a:avLst/>
          </a:prstGeom>
        </p:spPr>
        <p:txBody>
          <a:bodyPr anchor="t" rtlCol="false" tIns="0" lIns="0" bIns="0" rIns="0">
            <a:spAutoFit/>
          </a:bodyPr>
          <a:lstStyle/>
          <a:p>
            <a:pPr algn="ctr">
              <a:lnSpc>
                <a:spcPts val="4292"/>
              </a:lnSpc>
            </a:pPr>
            <a:r>
              <a:rPr lang="en-US" sz="3798">
                <a:solidFill>
                  <a:srgbClr val="A74B4B"/>
                </a:solidFill>
                <a:latin typeface="Mango AC"/>
                <a:ea typeface="Mango AC"/>
                <a:cs typeface="Mango AC"/>
                <a:sym typeface="Mango AC"/>
              </a:rPr>
              <a:t>VERSI DUAL MODE: CONSOLE &amp; GUI</a:t>
            </a:r>
          </a:p>
          <a:p>
            <a:pPr algn="ctr">
              <a:lnSpc>
                <a:spcPts val="429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736097" y="387627"/>
            <a:ext cx="17111031" cy="9360470"/>
          </a:xfrm>
          <a:custGeom>
            <a:avLst/>
            <a:gdLst/>
            <a:ahLst/>
            <a:cxnLst/>
            <a:rect r="r" b="b" t="t" l="l"/>
            <a:pathLst>
              <a:path h="9360470" w="17111031">
                <a:moveTo>
                  <a:pt x="0" y="0"/>
                </a:moveTo>
                <a:lnTo>
                  <a:pt x="17111032" y="0"/>
                </a:lnTo>
                <a:lnTo>
                  <a:pt x="17111032" y="9360470"/>
                </a:lnTo>
                <a:lnTo>
                  <a:pt x="0" y="9360470"/>
                </a:lnTo>
                <a:lnTo>
                  <a:pt x="0" y="0"/>
                </a:lnTo>
                <a:close/>
              </a:path>
            </a:pathLst>
          </a:custGeom>
          <a:blipFill>
            <a:blip r:embed="rId2"/>
            <a:stretch>
              <a:fillRect l="0" t="-10895" r="0" b="-10895"/>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967504" y="526418"/>
            <a:ext cx="9751884" cy="937890"/>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PENDAHULUAN</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679465" y="1954705"/>
            <a:ext cx="13641659" cy="6644937"/>
          </a:xfrm>
          <a:prstGeom prst="rect">
            <a:avLst/>
          </a:prstGeom>
        </p:spPr>
        <p:txBody>
          <a:bodyPr anchor="t" rtlCol="false" tIns="0" lIns="0" bIns="0" rIns="0">
            <a:spAutoFit/>
          </a:bodyPr>
          <a:lstStyle/>
          <a:p>
            <a:pPr algn="l">
              <a:lnSpc>
                <a:spcPts val="4393"/>
              </a:lnSpc>
            </a:pPr>
            <a:r>
              <a:rPr lang="en-US" sz="3138">
                <a:solidFill>
                  <a:srgbClr val="592718"/>
                </a:solidFill>
                <a:latin typeface="Poppins"/>
                <a:ea typeface="Poppins"/>
                <a:cs typeface="Poppins"/>
                <a:sym typeface="Poppins"/>
              </a:rPr>
              <a:t>Perkembangan teknologi informasi mendorong digitalisasi dalam berbagai bidang usaha, termasuk usaha tanaman hias.</a:t>
            </a:r>
          </a:p>
          <a:p>
            <a:pPr algn="l">
              <a:lnSpc>
                <a:spcPts val="4393"/>
              </a:lnSpc>
            </a:pPr>
            <a:r>
              <a:rPr lang="en-US" sz="3138">
                <a:solidFill>
                  <a:srgbClr val="592718"/>
                </a:solidFill>
                <a:latin typeface="Poppins"/>
                <a:ea typeface="Poppins"/>
                <a:cs typeface="Poppins"/>
                <a:sym typeface="Poppins"/>
              </a:rPr>
              <a:t>Pengelolaan inventaris tanaman secara manual berisiko menimbulkan kesalahan dan kehilangan data.</a:t>
            </a:r>
          </a:p>
          <a:p>
            <a:pPr algn="l">
              <a:lnSpc>
                <a:spcPts val="4393"/>
              </a:lnSpc>
            </a:pPr>
            <a:r>
              <a:rPr lang="en-US" sz="3138">
                <a:solidFill>
                  <a:srgbClr val="592718"/>
                </a:solidFill>
                <a:latin typeface="Poppins"/>
                <a:ea typeface="Poppins"/>
                <a:cs typeface="Poppins"/>
                <a:sym typeface="Poppins"/>
              </a:rPr>
              <a:t>Aplikasi SPIM dibuat sebagai solusi pengelolaan inventaris yang terstruktur dan efisien.</a:t>
            </a:r>
          </a:p>
          <a:p>
            <a:pPr algn="l">
              <a:lnSpc>
                <a:spcPts val="4393"/>
              </a:lnSpc>
            </a:pPr>
            <a:r>
              <a:rPr lang="en-US" sz="3138">
                <a:solidFill>
                  <a:srgbClr val="592718"/>
                </a:solidFill>
                <a:latin typeface="Poppins"/>
                <a:ea typeface="Poppins"/>
                <a:cs typeface="Poppins"/>
                <a:sym typeface="Poppins"/>
              </a:rPr>
              <a:t>Tanaman hias memiliki nilai ekonomis tinggi dan permintaan terus meningkat</a:t>
            </a:r>
          </a:p>
          <a:p>
            <a:pPr algn="l">
              <a:lnSpc>
                <a:spcPts val="4393"/>
              </a:lnSpc>
            </a:pPr>
            <a:r>
              <a:rPr lang="en-US" sz="3138">
                <a:solidFill>
                  <a:srgbClr val="592718"/>
                </a:solidFill>
                <a:latin typeface="Poppins"/>
                <a:ea typeface="Poppins"/>
                <a:cs typeface="Poppins"/>
                <a:sym typeface="Poppins"/>
              </a:rPr>
              <a:t>Banyak pelaku usaha masih mencatat inventaris secara manual</a:t>
            </a:r>
          </a:p>
          <a:p>
            <a:pPr algn="l">
              <a:lnSpc>
                <a:spcPts val="4393"/>
              </a:lnSpc>
            </a:pPr>
            <a:r>
              <a:rPr lang="en-US" sz="3138">
                <a:solidFill>
                  <a:srgbClr val="592718"/>
                </a:solidFill>
                <a:latin typeface="Poppins"/>
                <a:ea typeface="Poppins"/>
                <a:cs typeface="Poppins"/>
                <a:sym typeface="Poppins"/>
              </a:rPr>
              <a:t>Pencatatan manual tidak efisien, rawan kesalahan, dan sulit dikelola</a:t>
            </a:r>
          </a:p>
          <a:p>
            <a:pPr algn="l">
              <a:lnSpc>
                <a:spcPts val="439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68058" y="1345247"/>
            <a:ext cx="9751884" cy="937890"/>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LATAR BELAKANG</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471696" y="2695143"/>
            <a:ext cx="13641659" cy="5566983"/>
          </a:xfrm>
          <a:prstGeom prst="rect">
            <a:avLst/>
          </a:prstGeom>
        </p:spPr>
        <p:txBody>
          <a:bodyPr anchor="t" rtlCol="false" tIns="0" lIns="0" bIns="0" rIns="0">
            <a:spAutoFit/>
          </a:bodyPr>
          <a:lstStyle/>
          <a:p>
            <a:pPr algn="ctr">
              <a:lnSpc>
                <a:spcPts val="4393"/>
              </a:lnSpc>
            </a:pPr>
            <a:r>
              <a:rPr lang="en-US" sz="3138">
                <a:solidFill>
                  <a:srgbClr val="592718"/>
                </a:solidFill>
                <a:latin typeface="Poppins"/>
                <a:ea typeface="Poppins"/>
                <a:cs typeface="Poppins"/>
                <a:sym typeface="Poppins"/>
              </a:rPr>
              <a:t>Perkembangan teknologi informasi mendorong digitalisasi dalam berbagai bidang usaha, termasuk usaha tanaman hias.</a:t>
            </a:r>
          </a:p>
          <a:p>
            <a:pPr algn="ctr">
              <a:lnSpc>
                <a:spcPts val="4393"/>
              </a:lnSpc>
            </a:pPr>
            <a:r>
              <a:rPr lang="en-US" sz="3138">
                <a:solidFill>
                  <a:srgbClr val="592718"/>
                </a:solidFill>
                <a:latin typeface="Poppins"/>
                <a:ea typeface="Poppins"/>
                <a:cs typeface="Poppins"/>
                <a:sym typeface="Poppins"/>
              </a:rPr>
              <a:t> Namun, pada kenyataannya masih banyak pelaku usaha tanaman hias yang melakukan pencatatan inventaris secara manual menggunakan buku atau catatan sederhana.</a:t>
            </a:r>
          </a:p>
          <a:p>
            <a:pPr algn="ctr">
              <a:lnSpc>
                <a:spcPts val="4393"/>
              </a:lnSpc>
            </a:pPr>
            <a:r>
              <a:rPr lang="en-US" sz="3138">
                <a:solidFill>
                  <a:srgbClr val="592718"/>
                </a:solidFill>
                <a:latin typeface="Poppins"/>
                <a:ea typeface="Poppins"/>
                <a:cs typeface="Poppins"/>
                <a:sym typeface="Poppins"/>
              </a:rPr>
              <a:t> Cara ini berisiko menimbulkan kesalahan pencatatan, kehilangan data, serta kesulitan dalam monitoring stok dan kondisi tanaman.</a:t>
            </a:r>
          </a:p>
          <a:p>
            <a:pPr algn="ctr" marL="0" indent="0" lvl="0">
              <a:lnSpc>
                <a:spcPts val="4393"/>
              </a:lnSpc>
            </a:pPr>
            <a:r>
              <a:rPr lang="en-US" sz="3138">
                <a:solidFill>
                  <a:srgbClr val="592718"/>
                </a:solidFill>
                <a:latin typeface="Poppins"/>
                <a:ea typeface="Poppins"/>
                <a:cs typeface="Poppins"/>
                <a:sym typeface="Poppins"/>
              </a:rPr>
              <a:t> Oleh karena itu, diperlukan sebuah aplikasi berbasis teknologi yang mampu mengelola data inventaris tanaman secara terstruktur, efisien, dan akurat.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76442" y="-1763254"/>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19942" y="746326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390195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68058" y="526418"/>
            <a:ext cx="9751884" cy="937890"/>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RUMUSAN MASALAH</a:t>
            </a:r>
          </a:p>
        </p:txBody>
      </p:sp>
      <p:sp>
        <p:nvSpPr>
          <p:cNvPr name="Freeform 7" id="7"/>
          <p:cNvSpPr/>
          <p:nvPr/>
        </p:nvSpPr>
        <p:spPr>
          <a:xfrm flipH="false" flipV="true" rot="0">
            <a:off x="-2149368" y="-5300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159342">
            <a:off x="-1391678" y="7419538"/>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227993" y="2926623"/>
            <a:ext cx="14970018" cy="4111780"/>
          </a:xfrm>
          <a:prstGeom prst="rect">
            <a:avLst/>
          </a:prstGeom>
        </p:spPr>
        <p:txBody>
          <a:bodyPr anchor="t" rtlCol="false" tIns="0" lIns="0" bIns="0" rIns="0">
            <a:spAutoFit/>
          </a:bodyPr>
          <a:lstStyle/>
          <a:p>
            <a:pPr algn="just" marL="633310" indent="-316655" lvl="1">
              <a:lnSpc>
                <a:spcPts val="4106"/>
              </a:lnSpc>
              <a:buFont typeface="Arial"/>
              <a:buChar char="•"/>
            </a:pPr>
            <a:r>
              <a:rPr lang="en-US" sz="2933">
                <a:solidFill>
                  <a:srgbClr val="592718"/>
                </a:solidFill>
                <a:latin typeface="Poppins"/>
                <a:ea typeface="Poppins"/>
                <a:cs typeface="Poppins"/>
                <a:sym typeface="Poppins"/>
              </a:rPr>
              <a:t>Bagaimana merancang aplikasi inventaris tanaman berbasis Java?</a:t>
            </a:r>
          </a:p>
          <a:p>
            <a:pPr algn="just" marL="633310" indent="-316655" lvl="1">
              <a:lnSpc>
                <a:spcPts val="4106"/>
              </a:lnSpc>
              <a:buFont typeface="Arial"/>
              <a:buChar char="•"/>
            </a:pPr>
            <a:r>
              <a:rPr lang="en-US" sz="2933">
                <a:solidFill>
                  <a:srgbClr val="592718"/>
                </a:solidFill>
                <a:latin typeface="Poppins"/>
                <a:ea typeface="Poppins"/>
                <a:cs typeface="Poppins"/>
                <a:sym typeface="Poppins"/>
              </a:rPr>
              <a:t>Bagaimana menerapkan konsep OOP (enkapsulasi, pewarisan, polimorfisme)?</a:t>
            </a:r>
          </a:p>
          <a:p>
            <a:pPr algn="just" marL="633310" indent="-316655" lvl="1">
              <a:lnSpc>
                <a:spcPts val="4106"/>
              </a:lnSpc>
              <a:buFont typeface="Arial"/>
              <a:buChar char="•"/>
            </a:pPr>
            <a:r>
              <a:rPr lang="en-US" sz="2933">
                <a:solidFill>
                  <a:srgbClr val="592718"/>
                </a:solidFill>
                <a:latin typeface="Poppins"/>
                <a:ea typeface="Poppins"/>
                <a:cs typeface="Poppins"/>
                <a:sym typeface="Poppins"/>
              </a:rPr>
              <a:t>Bagaimana membuat dual interface (Console &amp; GUI)?</a:t>
            </a:r>
          </a:p>
          <a:p>
            <a:pPr algn="just" marL="633310" indent="-316655" lvl="1">
              <a:lnSpc>
                <a:spcPts val="4106"/>
              </a:lnSpc>
              <a:buFont typeface="Arial"/>
              <a:buChar char="•"/>
            </a:pPr>
            <a:r>
              <a:rPr lang="en-US" sz="2933">
                <a:solidFill>
                  <a:srgbClr val="592718"/>
                </a:solidFill>
                <a:latin typeface="Poppins"/>
                <a:ea typeface="Poppins"/>
                <a:cs typeface="Poppins"/>
                <a:sym typeface="Poppins"/>
              </a:rPr>
              <a:t>Bagaimana mengimplementasikan CRUD data tanaman?</a:t>
            </a:r>
          </a:p>
          <a:p>
            <a:pPr algn="just" marL="633310" indent="-316655" lvl="1">
              <a:lnSpc>
                <a:spcPts val="4106"/>
              </a:lnSpc>
              <a:buFont typeface="Arial"/>
              <a:buChar char="•"/>
            </a:pPr>
            <a:r>
              <a:rPr lang="en-US" sz="2933">
                <a:solidFill>
                  <a:srgbClr val="592718"/>
                </a:solidFill>
                <a:latin typeface="Poppins"/>
                <a:ea typeface="Poppins"/>
                <a:cs typeface="Poppins"/>
                <a:sym typeface="Poppins"/>
              </a:rPr>
              <a:t>Bagaimana menyimpan data secara persisten menggunakan file teks?</a:t>
            </a:r>
          </a:p>
          <a:p>
            <a:pPr algn="just" marL="633310" indent="-316655" lvl="1">
              <a:lnSpc>
                <a:spcPts val="4106"/>
              </a:lnSpc>
              <a:buFont typeface="Arial"/>
              <a:buChar char="•"/>
            </a:pPr>
            <a:r>
              <a:rPr lang="en-US" sz="2933">
                <a:solidFill>
                  <a:srgbClr val="592718"/>
                </a:solidFill>
                <a:latin typeface="Poppins"/>
                <a:ea typeface="Poppins"/>
                <a:cs typeface="Poppins"/>
                <a:sym typeface="Poppins"/>
              </a:rPr>
              <a:t>Bagaimana membuat sistem laporan otomatis?</a:t>
            </a:r>
          </a:p>
          <a:p>
            <a:pPr algn="just">
              <a:lnSpc>
                <a:spcPts val="410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2618872" y="438503"/>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966432"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109932" y="8283476"/>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390195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06768" y="981075"/>
            <a:ext cx="8721368" cy="2294026"/>
          </a:xfrm>
          <a:prstGeom prst="rect">
            <a:avLst/>
          </a:prstGeom>
        </p:spPr>
        <p:txBody>
          <a:bodyPr anchor="t" rtlCol="false" tIns="0" lIns="0" bIns="0" rIns="0">
            <a:spAutoFit/>
          </a:bodyPr>
          <a:lstStyle/>
          <a:p>
            <a:pPr algn="ctr">
              <a:lnSpc>
                <a:spcPts val="5786"/>
              </a:lnSpc>
            </a:pPr>
            <a:r>
              <a:rPr lang="en-US" sz="5120">
                <a:solidFill>
                  <a:srgbClr val="A74B4B"/>
                </a:solidFill>
                <a:latin typeface="Mango AC"/>
                <a:ea typeface="Mango AC"/>
                <a:cs typeface="Mango AC"/>
                <a:sym typeface="Mango AC"/>
              </a:rPr>
              <a:t>DESKRIPSI UMUM APLIKASI</a:t>
            </a:r>
          </a:p>
          <a:p>
            <a:pPr algn="ctr">
              <a:lnSpc>
                <a:spcPts val="5786"/>
              </a:lnSpc>
            </a:pPr>
          </a:p>
        </p:txBody>
      </p:sp>
      <p:sp>
        <p:nvSpPr>
          <p:cNvPr name="Freeform 7" id="7"/>
          <p:cNvSpPr/>
          <p:nvPr/>
        </p:nvSpPr>
        <p:spPr>
          <a:xfrm flipH="false" flipV="true" rot="0">
            <a:off x="-2149368" y="-5300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159342">
            <a:off x="-1620278" y="7726543"/>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3041051" y="3560463"/>
            <a:ext cx="13466366" cy="4631090"/>
          </a:xfrm>
          <a:prstGeom prst="rect">
            <a:avLst/>
          </a:prstGeom>
        </p:spPr>
        <p:txBody>
          <a:bodyPr anchor="t" rtlCol="false" tIns="0" lIns="0" bIns="0" rIns="0">
            <a:spAutoFit/>
          </a:bodyPr>
          <a:lstStyle/>
          <a:p>
            <a:pPr algn="l">
              <a:lnSpc>
                <a:spcPts val="4093"/>
              </a:lnSpc>
            </a:pPr>
            <a:r>
              <a:rPr lang="en-US" sz="2923">
                <a:solidFill>
                  <a:srgbClr val="592718"/>
                </a:solidFill>
                <a:latin typeface="Poppins"/>
                <a:ea typeface="Poppins"/>
                <a:cs typeface="Poppins"/>
                <a:sym typeface="Poppins"/>
              </a:rPr>
              <a:t>SPIM (Sistem Pengelolaan Inventaris Tanaman Hias) adalah aplikasi berbasis Java yang digunakan untuk mengelola data inventaris tanaman hias secara terstruktur dan efisien. Aplikasi ini menyediakan fitur CRUD, pelaporan inventaris, serta penyimpanan data persisten menggunakan file teks. SPIM dikembangkan dengan menerapkan konsep Object Oriented Programming (enkapsulasi, pewarisan, dan polimorfisme) serta menyediakan dua mode antarmuka, yaitu Console dan GUI berbasis Java Swing, yang terintegrasi dalam satu sistem backend yang sama.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74567" y="150809"/>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149368" y="8591650"/>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68058" y="528606"/>
            <a:ext cx="9751884" cy="937890"/>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TUJUAN APLIKASI</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942784" y="1689053"/>
            <a:ext cx="12402432" cy="8552640"/>
          </a:xfrm>
          <a:prstGeom prst="rect">
            <a:avLst/>
          </a:prstGeom>
        </p:spPr>
        <p:txBody>
          <a:bodyPr anchor="t" rtlCol="false" tIns="0" lIns="0" bIns="0" rIns="0">
            <a:spAutoFit/>
          </a:bodyPr>
          <a:lstStyle/>
          <a:p>
            <a:pPr algn="l" marL="654585" indent="-327293" lvl="1">
              <a:lnSpc>
                <a:spcPts val="4244"/>
              </a:lnSpc>
              <a:buFont typeface="Arial"/>
              <a:buChar char="•"/>
            </a:pPr>
            <a:r>
              <a:rPr lang="en-US" sz="3031">
                <a:solidFill>
                  <a:srgbClr val="592718"/>
                </a:solidFill>
                <a:latin typeface="Poppins"/>
                <a:ea typeface="Poppins"/>
                <a:cs typeface="Poppins"/>
                <a:sym typeface="Poppins"/>
              </a:rPr>
              <a:t>Mengembangkan aplikasi pengelolaan inventaris tanaman hias berbasis Java yang efektif dan terstruktur.</a:t>
            </a:r>
          </a:p>
          <a:p>
            <a:pPr algn="l" marL="654585" indent="-327293" lvl="1">
              <a:lnSpc>
                <a:spcPts val="4244"/>
              </a:lnSpc>
              <a:buFont typeface="Arial"/>
              <a:buChar char="•"/>
            </a:pPr>
            <a:r>
              <a:rPr lang="en-US" sz="3031">
                <a:solidFill>
                  <a:srgbClr val="592718"/>
                </a:solidFill>
                <a:latin typeface="Poppins"/>
                <a:ea typeface="Poppins"/>
                <a:cs typeface="Poppins"/>
                <a:sym typeface="Poppins"/>
              </a:rPr>
              <a:t>Menerapkan konsep Object Oriented Programming (enkapsulasi, pewarisan, dan polimorfisme) dalam studi kasus nyata.</a:t>
            </a:r>
          </a:p>
          <a:p>
            <a:pPr algn="l" marL="654585" indent="-327293" lvl="1">
              <a:lnSpc>
                <a:spcPts val="4244"/>
              </a:lnSpc>
              <a:buFont typeface="Arial"/>
              <a:buChar char="•"/>
            </a:pPr>
            <a:r>
              <a:rPr lang="en-US" sz="3031">
                <a:solidFill>
                  <a:srgbClr val="592718"/>
                </a:solidFill>
                <a:latin typeface="Poppins"/>
                <a:ea typeface="Poppins"/>
                <a:cs typeface="Poppins"/>
                <a:sym typeface="Poppins"/>
              </a:rPr>
              <a:t>Menyediakan fitur CRUD (Create, Read, Update, Delete) untuk pengelolaan data tanaman.</a:t>
            </a:r>
          </a:p>
          <a:p>
            <a:pPr algn="l" marL="654585" indent="-327293" lvl="1">
              <a:lnSpc>
                <a:spcPts val="4244"/>
              </a:lnSpc>
              <a:buFont typeface="Arial"/>
              <a:buChar char="•"/>
            </a:pPr>
            <a:r>
              <a:rPr lang="en-US" sz="3031">
                <a:solidFill>
                  <a:srgbClr val="592718"/>
                </a:solidFill>
                <a:latin typeface="Poppins"/>
                <a:ea typeface="Poppins"/>
                <a:cs typeface="Poppins"/>
                <a:sym typeface="Poppins"/>
              </a:rPr>
              <a:t>Menyediakan dua mode antarmuka, yaitu Console dan GUI berbasis Java Swing, untuk meningkatkan fleksibilitas pengguna.</a:t>
            </a:r>
          </a:p>
          <a:p>
            <a:pPr algn="l" marL="654585" indent="-327293" lvl="1">
              <a:lnSpc>
                <a:spcPts val="4244"/>
              </a:lnSpc>
              <a:buFont typeface="Arial"/>
              <a:buChar char="•"/>
            </a:pPr>
            <a:r>
              <a:rPr lang="en-US" sz="3031">
                <a:solidFill>
                  <a:srgbClr val="592718"/>
                </a:solidFill>
                <a:latin typeface="Poppins"/>
                <a:ea typeface="Poppins"/>
                <a:cs typeface="Poppins"/>
                <a:sym typeface="Poppins"/>
              </a:rPr>
              <a:t>Mengimplementasikan penyimpanan data persisten menggunakan file teks agar data inventaris tidak hilang saat aplikasi ditutup.</a:t>
            </a:r>
          </a:p>
          <a:p>
            <a:pPr algn="l" marL="654585" indent="-327293" lvl="1">
              <a:lnSpc>
                <a:spcPts val="4244"/>
              </a:lnSpc>
              <a:buFont typeface="Arial"/>
              <a:buChar char="•"/>
            </a:pPr>
            <a:r>
              <a:rPr lang="en-US" sz="3031">
                <a:solidFill>
                  <a:srgbClr val="592718"/>
                </a:solidFill>
                <a:latin typeface="Poppins"/>
                <a:ea typeface="Poppins"/>
                <a:cs typeface="Poppins"/>
                <a:sym typeface="Poppins"/>
              </a:rPr>
              <a:t>Menyediakan sistem pelaporan inventaris untuk memantau kondisi dan stok tanaman secara otomatis.</a:t>
            </a:r>
          </a:p>
          <a:p>
            <a:pPr algn="l" marL="0" indent="0" lvl="0">
              <a:lnSpc>
                <a:spcPts val="424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7257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19942" y="746326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390195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606250" y="-1193356"/>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00737">
            <a:off x="1939134" y="2415728"/>
            <a:ext cx="6544311" cy="6377728"/>
          </a:xfrm>
          <a:custGeom>
            <a:avLst/>
            <a:gdLst/>
            <a:ahLst/>
            <a:cxnLst/>
            <a:rect r="r" b="b" t="t" l="l"/>
            <a:pathLst>
              <a:path h="6377728" w="6544311">
                <a:moveTo>
                  <a:pt x="0" y="0"/>
                </a:moveTo>
                <a:lnTo>
                  <a:pt x="6544311" y="0"/>
                </a:lnTo>
                <a:lnTo>
                  <a:pt x="6544311" y="6377728"/>
                </a:lnTo>
                <a:lnTo>
                  <a:pt x="0" y="63777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2882368" y="3812753"/>
            <a:ext cx="5166451" cy="3736261"/>
          </a:xfrm>
          <a:prstGeom prst="rect">
            <a:avLst/>
          </a:prstGeom>
        </p:spPr>
        <p:txBody>
          <a:bodyPr anchor="t" rtlCol="false" tIns="0" lIns="0" bIns="0" rIns="0">
            <a:spAutoFit/>
          </a:bodyPr>
          <a:lstStyle/>
          <a:p>
            <a:pPr algn="l" marL="589001" indent="-294500" lvl="1">
              <a:lnSpc>
                <a:spcPts val="3819"/>
              </a:lnSpc>
              <a:buFont typeface="Arial"/>
              <a:buChar char="•"/>
            </a:pPr>
            <a:r>
              <a:rPr lang="en-US" sz="2728">
                <a:solidFill>
                  <a:srgbClr val="FFFFFF"/>
                </a:solidFill>
                <a:latin typeface="Poppins"/>
                <a:ea typeface="Poppins"/>
                <a:cs typeface="Poppins"/>
                <a:sym typeface="Poppins"/>
              </a:rPr>
              <a:t>Tambah data tanaman</a:t>
            </a:r>
          </a:p>
          <a:p>
            <a:pPr algn="l" marL="589001" indent="-294500" lvl="1">
              <a:lnSpc>
                <a:spcPts val="3819"/>
              </a:lnSpc>
              <a:buFont typeface="Arial"/>
              <a:buChar char="•"/>
            </a:pPr>
            <a:r>
              <a:rPr lang="en-US" sz="2728">
                <a:solidFill>
                  <a:srgbClr val="FFFFFF"/>
                </a:solidFill>
                <a:latin typeface="Poppins"/>
                <a:ea typeface="Poppins"/>
                <a:cs typeface="Poppins"/>
                <a:sym typeface="Poppins"/>
              </a:rPr>
              <a:t>Lihat data inventaris</a:t>
            </a:r>
          </a:p>
          <a:p>
            <a:pPr algn="l" marL="589001" indent="-294500" lvl="1">
              <a:lnSpc>
                <a:spcPts val="3819"/>
              </a:lnSpc>
              <a:buFont typeface="Arial"/>
              <a:buChar char="•"/>
            </a:pPr>
            <a:r>
              <a:rPr lang="en-US" sz="2728">
                <a:solidFill>
                  <a:srgbClr val="FFFFFF"/>
                </a:solidFill>
                <a:latin typeface="Poppins"/>
                <a:ea typeface="Poppins"/>
                <a:cs typeface="Poppins"/>
                <a:sym typeface="Poppins"/>
              </a:rPr>
              <a:t>Update data tanaman</a:t>
            </a:r>
          </a:p>
          <a:p>
            <a:pPr algn="l" marL="589001" indent="-294500" lvl="1">
              <a:lnSpc>
                <a:spcPts val="3819"/>
              </a:lnSpc>
              <a:buFont typeface="Arial"/>
              <a:buChar char="•"/>
            </a:pPr>
            <a:r>
              <a:rPr lang="en-US" sz="2728">
                <a:solidFill>
                  <a:srgbClr val="FFFFFF"/>
                </a:solidFill>
                <a:latin typeface="Poppins"/>
                <a:ea typeface="Poppins"/>
                <a:cs typeface="Poppins"/>
                <a:sym typeface="Poppins"/>
              </a:rPr>
              <a:t>Hapus data tanaman</a:t>
            </a:r>
          </a:p>
          <a:p>
            <a:pPr algn="l" marL="589001" indent="-294500" lvl="1">
              <a:lnSpc>
                <a:spcPts val="3819"/>
              </a:lnSpc>
              <a:buFont typeface="Arial"/>
              <a:buChar char="•"/>
            </a:pPr>
            <a:r>
              <a:rPr lang="en-US" sz="2728">
                <a:solidFill>
                  <a:srgbClr val="FFFFFF"/>
                </a:solidFill>
                <a:latin typeface="Poppins"/>
                <a:ea typeface="Poppins"/>
                <a:cs typeface="Poppins"/>
                <a:sym typeface="Poppins"/>
              </a:rPr>
              <a:t>Laporan inventaris</a:t>
            </a:r>
          </a:p>
          <a:p>
            <a:pPr algn="l">
              <a:lnSpc>
                <a:spcPts val="3819"/>
              </a:lnSpc>
            </a:pPr>
          </a:p>
          <a:p>
            <a:pPr algn="l">
              <a:lnSpc>
                <a:spcPts val="3539"/>
              </a:lnSpc>
            </a:pPr>
          </a:p>
          <a:p>
            <a:pPr algn="just" marL="0" indent="0" lvl="0">
              <a:lnSpc>
                <a:spcPts val="3259"/>
              </a:lnSpc>
            </a:pPr>
          </a:p>
        </p:txBody>
      </p:sp>
      <p:sp>
        <p:nvSpPr>
          <p:cNvPr name="TextBox 11" id="11"/>
          <p:cNvSpPr txBox="true"/>
          <p:nvPr/>
        </p:nvSpPr>
        <p:spPr>
          <a:xfrm rot="0">
            <a:off x="1028700" y="1561063"/>
            <a:ext cx="6850272" cy="669140"/>
          </a:xfrm>
          <a:prstGeom prst="rect">
            <a:avLst/>
          </a:prstGeom>
        </p:spPr>
        <p:txBody>
          <a:bodyPr anchor="t" rtlCol="false" tIns="0" lIns="0" bIns="0" rIns="0">
            <a:spAutoFit/>
          </a:bodyPr>
          <a:lstStyle/>
          <a:p>
            <a:pPr algn="ctr">
              <a:lnSpc>
                <a:spcPts val="4545"/>
              </a:lnSpc>
            </a:pPr>
            <a:r>
              <a:rPr lang="en-US" sz="4022">
                <a:solidFill>
                  <a:srgbClr val="A74B4B"/>
                </a:solidFill>
                <a:latin typeface="Mango AC"/>
                <a:ea typeface="Mango AC"/>
                <a:cs typeface="Mango AC"/>
                <a:sym typeface="Mango AC"/>
              </a:rPr>
              <a:t>FITUR UTAMA</a:t>
            </a:r>
          </a:p>
        </p:txBody>
      </p:sp>
      <p:sp>
        <p:nvSpPr>
          <p:cNvPr name="Freeform 12" id="12"/>
          <p:cNvSpPr/>
          <p:nvPr/>
        </p:nvSpPr>
        <p:spPr>
          <a:xfrm flipH="false" flipV="false" rot="-7159342">
            <a:off x="-947374" y="8967864"/>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8201219" y="2643054"/>
            <a:ext cx="9908368" cy="5581455"/>
          </a:xfrm>
          <a:custGeom>
            <a:avLst/>
            <a:gdLst/>
            <a:ahLst/>
            <a:cxnLst/>
            <a:rect r="r" b="b" t="t" l="l"/>
            <a:pathLst>
              <a:path h="5581455" w="9908368">
                <a:moveTo>
                  <a:pt x="0" y="0"/>
                </a:moveTo>
                <a:lnTo>
                  <a:pt x="9908369" y="0"/>
                </a:lnTo>
                <a:lnTo>
                  <a:pt x="9908369" y="5581456"/>
                </a:lnTo>
                <a:lnTo>
                  <a:pt x="0" y="5581456"/>
                </a:lnTo>
                <a:lnTo>
                  <a:pt x="0" y="0"/>
                </a:lnTo>
                <a:close/>
              </a:path>
            </a:pathLst>
          </a:custGeom>
          <a:blipFill>
            <a:blip r:embed="rId12"/>
            <a:stretch>
              <a:fillRect l="0" t="-6322" r="0" b="-11477"/>
            </a:stretch>
          </a:blipFill>
        </p:spPr>
      </p:sp>
      <p:sp>
        <p:nvSpPr>
          <p:cNvPr name="TextBox 14" id="14"/>
          <p:cNvSpPr txBox="true"/>
          <p:nvPr/>
        </p:nvSpPr>
        <p:spPr>
          <a:xfrm rot="0">
            <a:off x="8663967" y="1255068"/>
            <a:ext cx="6850272" cy="1245373"/>
          </a:xfrm>
          <a:prstGeom prst="rect">
            <a:avLst/>
          </a:prstGeom>
        </p:spPr>
        <p:txBody>
          <a:bodyPr anchor="t" rtlCol="false" tIns="0" lIns="0" bIns="0" rIns="0">
            <a:spAutoFit/>
          </a:bodyPr>
          <a:lstStyle/>
          <a:p>
            <a:pPr algn="ctr">
              <a:lnSpc>
                <a:spcPts val="4545"/>
              </a:lnSpc>
            </a:pPr>
            <a:r>
              <a:rPr lang="en-US" sz="4022">
                <a:solidFill>
                  <a:srgbClr val="A74B4B"/>
                </a:solidFill>
                <a:latin typeface="Mango AC"/>
                <a:ea typeface="Mango AC"/>
                <a:cs typeface="Mango AC"/>
                <a:sym typeface="Mango AC"/>
              </a:rPr>
              <a:t>CONTOH GAMBAR SKETSA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2269945" y="808251"/>
            <a:ext cx="13748109" cy="8450049"/>
          </a:xfrm>
          <a:custGeom>
            <a:avLst/>
            <a:gdLst/>
            <a:ahLst/>
            <a:cxnLst/>
            <a:rect r="r" b="b" t="t" l="l"/>
            <a:pathLst>
              <a:path h="8450049" w="13748109">
                <a:moveTo>
                  <a:pt x="0" y="0"/>
                </a:moveTo>
                <a:lnTo>
                  <a:pt x="13748110" y="0"/>
                </a:lnTo>
                <a:lnTo>
                  <a:pt x="13748110" y="8450049"/>
                </a:lnTo>
                <a:lnTo>
                  <a:pt x="0" y="8450049"/>
                </a:lnTo>
                <a:lnTo>
                  <a:pt x="0" y="0"/>
                </a:lnTo>
                <a:close/>
              </a:path>
            </a:pathLst>
          </a:custGeom>
          <a:blipFill>
            <a:blip r:embed="rId2"/>
            <a:stretch>
              <a:fillRect l="0" t="-2262" r="0" b="-570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200150" y="-704947"/>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086850" y="-40153"/>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149368" y="8023271"/>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758613" y="981075"/>
            <a:ext cx="6715714" cy="609933"/>
          </a:xfrm>
          <a:prstGeom prst="rect">
            <a:avLst/>
          </a:prstGeom>
        </p:spPr>
        <p:txBody>
          <a:bodyPr anchor="t" rtlCol="false" tIns="0" lIns="0" bIns="0" rIns="0">
            <a:spAutoFit/>
          </a:bodyPr>
          <a:lstStyle/>
          <a:p>
            <a:pPr algn="ctr">
              <a:lnSpc>
                <a:spcPts val="4176"/>
              </a:lnSpc>
            </a:pPr>
            <a:r>
              <a:rPr lang="en-US" sz="3695">
                <a:solidFill>
                  <a:srgbClr val="A74B4B"/>
                </a:solidFill>
                <a:latin typeface="Mango AC"/>
                <a:ea typeface="Mango AC"/>
                <a:cs typeface="Mango AC"/>
                <a:sym typeface="Mango AC"/>
              </a:rPr>
              <a:t>RUANG LINGKUP APLIKASI</a:t>
            </a:r>
          </a:p>
        </p:txBody>
      </p:sp>
      <p:sp>
        <p:nvSpPr>
          <p:cNvPr name="Freeform 7" id="7"/>
          <p:cNvSpPr/>
          <p:nvPr/>
        </p:nvSpPr>
        <p:spPr>
          <a:xfrm flipH="true" flipV="true" rot="0">
            <a:off x="15109932" y="-1494867"/>
            <a:ext cx="6356137" cy="3117564"/>
          </a:xfrm>
          <a:custGeom>
            <a:avLst/>
            <a:gdLst/>
            <a:ahLst/>
            <a:cxnLst/>
            <a:rect r="r" b="b" t="t" l="l"/>
            <a:pathLst>
              <a:path h="3117564" w="6356137">
                <a:moveTo>
                  <a:pt x="6356136" y="3117564"/>
                </a:moveTo>
                <a:lnTo>
                  <a:pt x="0" y="3117564"/>
                </a:lnTo>
                <a:lnTo>
                  <a:pt x="0" y="0"/>
                </a:lnTo>
                <a:lnTo>
                  <a:pt x="6356136" y="0"/>
                </a:lnTo>
                <a:lnTo>
                  <a:pt x="6356136"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2070938" y="931469"/>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6062422" y="8128694"/>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506636" y="1903851"/>
            <a:ext cx="9232677" cy="6771249"/>
          </a:xfrm>
          <a:custGeom>
            <a:avLst/>
            <a:gdLst/>
            <a:ahLst/>
            <a:cxnLst/>
            <a:rect r="r" b="b" t="t" l="l"/>
            <a:pathLst>
              <a:path h="6771249" w="9232677">
                <a:moveTo>
                  <a:pt x="0" y="0"/>
                </a:moveTo>
                <a:lnTo>
                  <a:pt x="9232677" y="0"/>
                </a:lnTo>
                <a:lnTo>
                  <a:pt x="9232677" y="6771249"/>
                </a:lnTo>
                <a:lnTo>
                  <a:pt x="0" y="67712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8759593" y="2090626"/>
            <a:ext cx="9773207" cy="7167674"/>
          </a:xfrm>
          <a:custGeom>
            <a:avLst/>
            <a:gdLst/>
            <a:ahLst/>
            <a:cxnLst/>
            <a:rect r="r" b="b" t="t" l="l"/>
            <a:pathLst>
              <a:path h="7167674" w="9773207">
                <a:moveTo>
                  <a:pt x="0" y="0"/>
                </a:moveTo>
                <a:lnTo>
                  <a:pt x="9773207" y="0"/>
                </a:lnTo>
                <a:lnTo>
                  <a:pt x="9773207" y="7167674"/>
                </a:lnTo>
                <a:lnTo>
                  <a:pt x="0" y="71676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172825" y="1700243"/>
            <a:ext cx="1171575" cy="936670"/>
            <a:chOff x="0" y="0"/>
            <a:chExt cx="812800" cy="649831"/>
          </a:xfrm>
        </p:grpSpPr>
        <p:sp>
          <p:nvSpPr>
            <p:cNvPr name="Freeform 14" id="14"/>
            <p:cNvSpPr/>
            <p:nvPr/>
          </p:nvSpPr>
          <p:spPr>
            <a:xfrm flipH="false" flipV="false" rot="0">
              <a:off x="0" y="0"/>
              <a:ext cx="812800" cy="649831"/>
            </a:xfrm>
            <a:custGeom>
              <a:avLst/>
              <a:gdLst/>
              <a:ahLst/>
              <a:cxnLst/>
              <a:rect r="r" b="b" t="t" l="l"/>
              <a:pathLst>
                <a:path h="649831" w="812800">
                  <a:moveTo>
                    <a:pt x="406400" y="0"/>
                  </a:moveTo>
                  <a:cubicBezTo>
                    <a:pt x="181951" y="0"/>
                    <a:pt x="0" y="145470"/>
                    <a:pt x="0" y="324915"/>
                  </a:cubicBezTo>
                  <a:cubicBezTo>
                    <a:pt x="0" y="504361"/>
                    <a:pt x="181951" y="649831"/>
                    <a:pt x="406400" y="649831"/>
                  </a:cubicBezTo>
                  <a:cubicBezTo>
                    <a:pt x="630849" y="649831"/>
                    <a:pt x="812800" y="504361"/>
                    <a:pt x="812800" y="324915"/>
                  </a:cubicBezTo>
                  <a:cubicBezTo>
                    <a:pt x="812800" y="145470"/>
                    <a:pt x="630849" y="0"/>
                    <a:pt x="406400" y="0"/>
                  </a:cubicBezTo>
                  <a:close/>
                </a:path>
              </a:pathLst>
            </a:custGeom>
            <a:solidFill>
              <a:srgbClr val="A74B4B"/>
            </a:solidFill>
            <a:ln w="66675" cap="sq">
              <a:solidFill>
                <a:srgbClr val="FFEFF0"/>
              </a:solidFill>
              <a:prstDash val="solid"/>
              <a:miter/>
            </a:ln>
          </p:spPr>
        </p:sp>
        <p:sp>
          <p:nvSpPr>
            <p:cNvPr name="TextBox 15" id="15"/>
            <p:cNvSpPr txBox="true"/>
            <p:nvPr/>
          </p:nvSpPr>
          <p:spPr>
            <a:xfrm>
              <a:off x="76200" y="22822"/>
              <a:ext cx="660400" cy="566087"/>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392058" y="2550255"/>
            <a:ext cx="7694792" cy="5835399"/>
          </a:xfrm>
          <a:prstGeom prst="rect">
            <a:avLst/>
          </a:prstGeom>
        </p:spPr>
        <p:txBody>
          <a:bodyPr anchor="t" rtlCol="false" tIns="0" lIns="0" bIns="0" rIns="0">
            <a:spAutoFit/>
          </a:bodyPr>
          <a:lstStyle/>
          <a:p>
            <a:pPr algn="just" marL="506342" indent="-253171" lvl="1">
              <a:lnSpc>
                <a:spcPts val="3283"/>
              </a:lnSpc>
              <a:buFont typeface="Arial"/>
              <a:buChar char="•"/>
            </a:pPr>
            <a:r>
              <a:rPr lang="en-US" sz="2345">
                <a:solidFill>
                  <a:srgbClr val="FFFFFF"/>
                </a:solidFill>
                <a:latin typeface="Poppins"/>
                <a:ea typeface="Poppins"/>
                <a:cs typeface="Poppins"/>
                <a:sym typeface="Poppins"/>
              </a:rPr>
              <a:t>Mendukung operasi CRUD (Create, Read, Update, Delete).</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Menyediakan dua mode antarmuka, yaitu:</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Mode Console</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Mode GUI (Java Swing)</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Menggunakan penyimpanan data persisten berbasis file teks.</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Menyediakan laporan inventaris berupa total stok dan kondisi tanaman.</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Aplikasi digunakan untuk skala kecil hingga menengah dan bersifat single user.</a:t>
            </a:r>
          </a:p>
          <a:p>
            <a:pPr algn="just" marL="506342" indent="-253171" lvl="1">
              <a:lnSpc>
                <a:spcPts val="3283"/>
              </a:lnSpc>
              <a:buFont typeface="Arial"/>
              <a:buChar char="•"/>
            </a:pPr>
            <a:r>
              <a:rPr lang="en-US" sz="2345">
                <a:solidFill>
                  <a:srgbClr val="FFFFFF"/>
                </a:solidFill>
                <a:latin typeface="Poppins"/>
                <a:ea typeface="Poppins"/>
                <a:cs typeface="Poppins"/>
                <a:sym typeface="Poppins"/>
              </a:rPr>
              <a:t>Tidak mencakup sistem login, jaringan, atau database eksternal.</a:t>
            </a:r>
          </a:p>
          <a:p>
            <a:pPr algn="just" marL="0" indent="0" lvl="0">
              <a:lnSpc>
                <a:spcPts val="3283"/>
              </a:lnSpc>
            </a:pPr>
          </a:p>
        </p:txBody>
      </p:sp>
      <p:sp>
        <p:nvSpPr>
          <p:cNvPr name="TextBox 17" id="17"/>
          <p:cNvSpPr txBox="true"/>
          <p:nvPr/>
        </p:nvSpPr>
        <p:spPr>
          <a:xfrm rot="0">
            <a:off x="9505179" y="2472335"/>
            <a:ext cx="8277500" cy="6520298"/>
          </a:xfrm>
          <a:prstGeom prst="rect">
            <a:avLst/>
          </a:prstGeom>
        </p:spPr>
        <p:txBody>
          <a:bodyPr anchor="t" rtlCol="false" tIns="0" lIns="0" bIns="0" rIns="0">
            <a:spAutoFit/>
          </a:bodyPr>
          <a:lstStyle/>
          <a:p>
            <a:pPr algn="just">
              <a:lnSpc>
                <a:spcPts val="2863"/>
              </a:lnSpc>
            </a:pPr>
            <a:r>
              <a:rPr lang="en-US" sz="2045">
                <a:solidFill>
                  <a:srgbClr val="FFFFFF"/>
                </a:solidFill>
                <a:latin typeface="Poppins"/>
                <a:ea typeface="Poppins"/>
                <a:cs typeface="Poppins"/>
                <a:sym typeface="Poppins"/>
              </a:rPr>
              <a:t>. Enkapsulasi (Encapsulation)</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Atribut class dibuat bersifat private.</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Akses data dilakukan melalui getter dan setter.</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Bertujuan melindungi data dan menjaga konsistensi nilai.</a:t>
            </a:r>
          </a:p>
          <a:p>
            <a:pPr algn="just">
              <a:lnSpc>
                <a:spcPts val="2863"/>
              </a:lnSpc>
            </a:pPr>
            <a:r>
              <a:rPr lang="en-US" sz="2045">
                <a:solidFill>
                  <a:srgbClr val="FFFFFF"/>
                </a:solidFill>
                <a:latin typeface="Poppins"/>
                <a:ea typeface="Poppins"/>
                <a:cs typeface="Poppins"/>
                <a:sym typeface="Poppins"/>
              </a:rPr>
              <a:t>2. Pewarisan (Inheritance)</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Class induk Tanaman.</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Class turunan:</a:t>
            </a:r>
          </a:p>
          <a:p>
            <a:pPr algn="just" marL="883184" indent="-294395" lvl="2">
              <a:lnSpc>
                <a:spcPts val="2863"/>
              </a:lnSpc>
              <a:buFont typeface="Arial"/>
              <a:buChar char="⚬"/>
            </a:pPr>
            <a:r>
              <a:rPr lang="en-US" sz="2045">
                <a:solidFill>
                  <a:srgbClr val="FFFFFF"/>
                </a:solidFill>
                <a:latin typeface="Poppins"/>
                <a:ea typeface="Poppins"/>
                <a:cs typeface="Poppins"/>
                <a:sym typeface="Poppins"/>
              </a:rPr>
              <a:t>TanamanHiasIndoor</a:t>
            </a:r>
          </a:p>
          <a:p>
            <a:pPr algn="just" marL="883184" indent="-294395" lvl="2">
              <a:lnSpc>
                <a:spcPts val="2863"/>
              </a:lnSpc>
              <a:buFont typeface="Arial"/>
              <a:buChar char="⚬"/>
            </a:pPr>
            <a:r>
              <a:rPr lang="en-US" sz="2045">
                <a:solidFill>
                  <a:srgbClr val="FFFFFF"/>
                </a:solidFill>
                <a:latin typeface="Poppins"/>
                <a:ea typeface="Poppins"/>
                <a:cs typeface="Poppins"/>
                <a:sym typeface="Poppins"/>
              </a:rPr>
              <a:t>TanamanHiasOutdoor</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Memungkinkan penggunaan ulang atribut dan method dari class induk.</a:t>
            </a:r>
          </a:p>
          <a:p>
            <a:pPr algn="just">
              <a:lnSpc>
                <a:spcPts val="2863"/>
              </a:lnSpc>
            </a:pPr>
            <a:r>
              <a:rPr lang="en-US" sz="2045">
                <a:solidFill>
                  <a:srgbClr val="FFFFFF"/>
                </a:solidFill>
                <a:latin typeface="Poppins"/>
                <a:ea typeface="Poppins"/>
                <a:cs typeface="Poppins"/>
                <a:sym typeface="Poppins"/>
              </a:rPr>
              <a:t>3. Polimorfisme (Polymorphism)</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Method yang sama memiliki perilaku berbeda pada class turunan.</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Implementasi melalui method overriding.</a:t>
            </a:r>
          </a:p>
          <a:p>
            <a:pPr algn="just" marL="441592" indent="-220796" lvl="1">
              <a:lnSpc>
                <a:spcPts val="2863"/>
              </a:lnSpc>
              <a:buFont typeface="Arial"/>
              <a:buChar char="•"/>
            </a:pPr>
            <a:r>
              <a:rPr lang="en-US" sz="2045">
                <a:solidFill>
                  <a:srgbClr val="FFFFFF"/>
                </a:solidFill>
                <a:latin typeface="Poppins"/>
                <a:ea typeface="Poppins"/>
                <a:cs typeface="Poppins"/>
                <a:sym typeface="Poppins"/>
              </a:rPr>
              <a:t>Memungkinkan objek turunan diperlakukan sebagai objek induk.</a:t>
            </a:r>
          </a:p>
          <a:p>
            <a:pPr algn="just" marL="0" indent="0" lvl="0">
              <a:lnSpc>
                <a:spcPts val="2863"/>
              </a:lnSpc>
            </a:pPr>
          </a:p>
        </p:txBody>
      </p:sp>
      <p:sp>
        <p:nvSpPr>
          <p:cNvPr name="TextBox 18" id="18"/>
          <p:cNvSpPr txBox="true"/>
          <p:nvPr/>
        </p:nvSpPr>
        <p:spPr>
          <a:xfrm rot="0">
            <a:off x="1472705" y="1915770"/>
            <a:ext cx="571815" cy="573929"/>
          </a:xfrm>
          <a:prstGeom prst="rect">
            <a:avLst/>
          </a:prstGeom>
        </p:spPr>
        <p:txBody>
          <a:bodyPr anchor="t" rtlCol="false" tIns="0" lIns="0" bIns="0" rIns="0">
            <a:spAutoFit/>
          </a:bodyPr>
          <a:lstStyle/>
          <a:p>
            <a:pPr algn="ctr">
              <a:lnSpc>
                <a:spcPts val="3908"/>
              </a:lnSpc>
            </a:pPr>
            <a:r>
              <a:rPr lang="en-US" sz="3459">
                <a:solidFill>
                  <a:srgbClr val="FFFFFF"/>
                </a:solidFill>
                <a:latin typeface="Mango AC"/>
                <a:ea typeface="Mango AC"/>
                <a:cs typeface="Mango AC"/>
                <a:sym typeface="Mango AC"/>
              </a:rPr>
              <a:t>1</a:t>
            </a:r>
          </a:p>
        </p:txBody>
      </p:sp>
      <p:sp>
        <p:nvSpPr>
          <p:cNvPr name="TextBox 19" id="19"/>
          <p:cNvSpPr txBox="true"/>
          <p:nvPr/>
        </p:nvSpPr>
        <p:spPr>
          <a:xfrm rot="0">
            <a:off x="10325100" y="1029192"/>
            <a:ext cx="6715714" cy="1139386"/>
          </a:xfrm>
          <a:prstGeom prst="rect">
            <a:avLst/>
          </a:prstGeom>
        </p:spPr>
        <p:txBody>
          <a:bodyPr anchor="t" rtlCol="false" tIns="0" lIns="0" bIns="0" rIns="0">
            <a:spAutoFit/>
          </a:bodyPr>
          <a:lstStyle/>
          <a:p>
            <a:pPr algn="ctr">
              <a:lnSpc>
                <a:spcPts val="4176"/>
              </a:lnSpc>
            </a:pPr>
            <a:r>
              <a:rPr lang="en-US" sz="3695">
                <a:solidFill>
                  <a:srgbClr val="A74B4B"/>
                </a:solidFill>
                <a:latin typeface="Mango AC"/>
                <a:ea typeface="Mango AC"/>
                <a:cs typeface="Mango AC"/>
                <a:sym typeface="Mango AC"/>
              </a:rPr>
              <a:t>KONSEP OOP YG DIGUNAKAN</a:t>
            </a:r>
          </a:p>
        </p:txBody>
      </p:sp>
      <p:grpSp>
        <p:nvGrpSpPr>
          <p:cNvPr name="Group 20" id="20"/>
          <p:cNvGrpSpPr/>
          <p:nvPr/>
        </p:nvGrpSpPr>
        <p:grpSpPr>
          <a:xfrm rot="0">
            <a:off x="9505179" y="1495060"/>
            <a:ext cx="1171575" cy="936670"/>
            <a:chOff x="0" y="0"/>
            <a:chExt cx="812800" cy="649831"/>
          </a:xfrm>
        </p:grpSpPr>
        <p:sp>
          <p:nvSpPr>
            <p:cNvPr name="Freeform 21" id="21"/>
            <p:cNvSpPr/>
            <p:nvPr/>
          </p:nvSpPr>
          <p:spPr>
            <a:xfrm flipH="false" flipV="false" rot="0">
              <a:off x="0" y="0"/>
              <a:ext cx="812800" cy="649831"/>
            </a:xfrm>
            <a:custGeom>
              <a:avLst/>
              <a:gdLst/>
              <a:ahLst/>
              <a:cxnLst/>
              <a:rect r="r" b="b" t="t" l="l"/>
              <a:pathLst>
                <a:path h="649831" w="812800">
                  <a:moveTo>
                    <a:pt x="406400" y="0"/>
                  </a:moveTo>
                  <a:cubicBezTo>
                    <a:pt x="181951" y="0"/>
                    <a:pt x="0" y="145470"/>
                    <a:pt x="0" y="324915"/>
                  </a:cubicBezTo>
                  <a:cubicBezTo>
                    <a:pt x="0" y="504361"/>
                    <a:pt x="181951" y="649831"/>
                    <a:pt x="406400" y="649831"/>
                  </a:cubicBezTo>
                  <a:cubicBezTo>
                    <a:pt x="630849" y="649831"/>
                    <a:pt x="812800" y="504361"/>
                    <a:pt x="812800" y="324915"/>
                  </a:cubicBezTo>
                  <a:cubicBezTo>
                    <a:pt x="812800" y="145470"/>
                    <a:pt x="630849" y="0"/>
                    <a:pt x="406400" y="0"/>
                  </a:cubicBezTo>
                  <a:close/>
                </a:path>
              </a:pathLst>
            </a:custGeom>
            <a:solidFill>
              <a:srgbClr val="A74B4B"/>
            </a:solidFill>
            <a:ln w="66675" cap="sq">
              <a:solidFill>
                <a:srgbClr val="FFEFF0"/>
              </a:solidFill>
              <a:prstDash val="solid"/>
              <a:miter/>
            </a:ln>
          </p:spPr>
        </p:sp>
        <p:sp>
          <p:nvSpPr>
            <p:cNvPr name="TextBox 22" id="22"/>
            <p:cNvSpPr txBox="true"/>
            <p:nvPr/>
          </p:nvSpPr>
          <p:spPr>
            <a:xfrm>
              <a:off x="76200" y="22822"/>
              <a:ext cx="660400" cy="566087"/>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9753285" y="1652618"/>
            <a:ext cx="571815" cy="573929"/>
          </a:xfrm>
          <a:prstGeom prst="rect">
            <a:avLst/>
          </a:prstGeom>
        </p:spPr>
        <p:txBody>
          <a:bodyPr anchor="t" rtlCol="false" tIns="0" lIns="0" bIns="0" rIns="0">
            <a:spAutoFit/>
          </a:bodyPr>
          <a:lstStyle/>
          <a:p>
            <a:pPr algn="ctr">
              <a:lnSpc>
                <a:spcPts val="3908"/>
              </a:lnSpc>
            </a:pPr>
            <a:r>
              <a:rPr lang="en-US" sz="3459">
                <a:solidFill>
                  <a:srgbClr val="FFFFFF"/>
                </a:solidFill>
                <a:latin typeface="Mango AC"/>
                <a:ea typeface="Mango AC"/>
                <a:cs typeface="Mango AC"/>
                <a:sym typeface="Mango AC"/>
              </a:rPr>
              <a:t>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524333" y="8208202"/>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390195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787394" y="812257"/>
            <a:ext cx="7716476" cy="746525"/>
          </a:xfrm>
          <a:prstGeom prst="rect">
            <a:avLst/>
          </a:prstGeom>
        </p:spPr>
        <p:txBody>
          <a:bodyPr anchor="t" rtlCol="false" tIns="0" lIns="0" bIns="0" rIns="0">
            <a:spAutoFit/>
          </a:bodyPr>
          <a:lstStyle/>
          <a:p>
            <a:pPr algn="ctr">
              <a:lnSpc>
                <a:spcPts val="5119"/>
              </a:lnSpc>
            </a:pPr>
            <a:r>
              <a:rPr lang="en-US" sz="4530">
                <a:solidFill>
                  <a:srgbClr val="A74B4B"/>
                </a:solidFill>
                <a:latin typeface="Mango AC"/>
                <a:ea typeface="Mango AC"/>
                <a:cs typeface="Mango AC"/>
                <a:sym typeface="Mango AC"/>
              </a:rPr>
              <a:t>ALUR KERJA SISTEM</a:t>
            </a:r>
          </a:p>
        </p:txBody>
      </p:sp>
      <p:sp>
        <p:nvSpPr>
          <p:cNvPr name="Freeform 7" id="7"/>
          <p:cNvSpPr/>
          <p:nvPr/>
        </p:nvSpPr>
        <p:spPr>
          <a:xfrm flipH="false" flipV="true" rot="0">
            <a:off x="-2606250" y="-1558782"/>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159342">
            <a:off x="-1722323" y="781812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955992" y="1492107"/>
            <a:ext cx="15079449" cy="7890162"/>
          </a:xfrm>
          <a:prstGeom prst="rect">
            <a:avLst/>
          </a:prstGeom>
        </p:spPr>
        <p:txBody>
          <a:bodyPr anchor="t" rtlCol="false" tIns="0" lIns="0" bIns="0" rIns="0">
            <a:spAutoFit/>
          </a:bodyPr>
          <a:lstStyle/>
          <a:p>
            <a:pPr algn="just">
              <a:lnSpc>
                <a:spcPts val="3484"/>
              </a:lnSpc>
            </a:pPr>
            <a:r>
              <a:rPr lang="en-US" b="true" sz="2488">
                <a:solidFill>
                  <a:srgbClr val="592718"/>
                </a:solidFill>
                <a:latin typeface="Poppins Bold"/>
                <a:ea typeface="Poppins Bold"/>
                <a:cs typeface="Poppins Bold"/>
                <a:sym typeface="Poppins Bold"/>
              </a:rPr>
              <a:t>Aplikasi dijalankan</a:t>
            </a:r>
          </a:p>
          <a:p>
            <a:pPr algn="just">
              <a:lnSpc>
                <a:spcPts val="3484"/>
              </a:lnSpc>
            </a:pPr>
            <a:r>
              <a:rPr lang="en-US" sz="2488">
                <a:solidFill>
                  <a:srgbClr val="592718"/>
                </a:solidFill>
                <a:latin typeface="Poppins"/>
                <a:ea typeface="Poppins"/>
                <a:cs typeface="Poppins"/>
                <a:sym typeface="Poppins"/>
              </a:rPr>
              <a:t> Pengguna menjalankan aplikasi SPIM melalui mode Console atau GUI.</a:t>
            </a:r>
          </a:p>
          <a:p>
            <a:pPr algn="just">
              <a:lnSpc>
                <a:spcPts val="3484"/>
              </a:lnSpc>
            </a:pPr>
            <a:r>
              <a:rPr lang="en-US" b="true" sz="2488">
                <a:solidFill>
                  <a:srgbClr val="592718"/>
                </a:solidFill>
                <a:latin typeface="Poppins Bold"/>
                <a:ea typeface="Poppins Bold"/>
                <a:cs typeface="Poppins Bold"/>
                <a:sym typeface="Poppins Bold"/>
              </a:rPr>
              <a:t>Pemilihan menu / antarm</a:t>
            </a:r>
            <a:r>
              <a:rPr lang="en-US" sz="2488">
                <a:solidFill>
                  <a:srgbClr val="592718"/>
                </a:solidFill>
                <a:latin typeface="Poppins"/>
                <a:ea typeface="Poppins"/>
                <a:cs typeface="Poppins"/>
                <a:sym typeface="Poppins"/>
              </a:rPr>
              <a:t>uka</a:t>
            </a:r>
          </a:p>
          <a:p>
            <a:pPr algn="just">
              <a:lnSpc>
                <a:spcPts val="3484"/>
              </a:lnSpc>
            </a:pPr>
            <a:r>
              <a:rPr lang="en-US" sz="2488">
                <a:solidFill>
                  <a:srgbClr val="592718"/>
                </a:solidFill>
                <a:latin typeface="Poppins"/>
                <a:ea typeface="Poppins"/>
                <a:cs typeface="Poppins"/>
                <a:sym typeface="Poppins"/>
              </a:rPr>
              <a:t> Pengguna memilih fitur yang tersedia seperti tambah, lihat, update, hapus data, atau laporan.</a:t>
            </a:r>
          </a:p>
          <a:p>
            <a:pPr algn="just">
              <a:lnSpc>
                <a:spcPts val="3484"/>
              </a:lnSpc>
            </a:pPr>
            <a:r>
              <a:rPr lang="en-US" b="true" sz="2488">
                <a:solidFill>
                  <a:srgbClr val="592718"/>
                </a:solidFill>
                <a:latin typeface="Poppins Bold"/>
                <a:ea typeface="Poppins Bold"/>
                <a:cs typeface="Poppins Bold"/>
                <a:sym typeface="Poppins Bold"/>
              </a:rPr>
              <a:t>Input data tanaman</a:t>
            </a:r>
          </a:p>
          <a:p>
            <a:pPr algn="just">
              <a:lnSpc>
                <a:spcPts val="3484"/>
              </a:lnSpc>
            </a:pPr>
            <a:r>
              <a:rPr lang="en-US" sz="2488">
                <a:solidFill>
                  <a:srgbClr val="592718"/>
                </a:solidFill>
                <a:latin typeface="Poppins"/>
                <a:ea typeface="Poppins"/>
                <a:cs typeface="Poppins"/>
                <a:sym typeface="Poppins"/>
              </a:rPr>
              <a:t> Pengguna memasukkan data tanaman (ID, nama, jenis, stok, kondisi, dan informasi tambahan).</a:t>
            </a:r>
          </a:p>
          <a:p>
            <a:pPr algn="just">
              <a:lnSpc>
                <a:spcPts val="3484"/>
              </a:lnSpc>
            </a:pPr>
            <a:r>
              <a:rPr lang="en-US" b="true" sz="2488">
                <a:solidFill>
                  <a:srgbClr val="592718"/>
                </a:solidFill>
                <a:latin typeface="Poppins Bold"/>
                <a:ea typeface="Poppins Bold"/>
                <a:cs typeface="Poppins Bold"/>
                <a:sym typeface="Poppins Bold"/>
              </a:rPr>
              <a:t>Proses oleh sistem</a:t>
            </a:r>
          </a:p>
          <a:p>
            <a:pPr algn="just">
              <a:lnSpc>
                <a:spcPts val="3484"/>
              </a:lnSpc>
            </a:pPr>
            <a:r>
              <a:rPr lang="en-US" sz="2488">
                <a:solidFill>
                  <a:srgbClr val="592718"/>
                </a:solidFill>
                <a:latin typeface="Poppins"/>
                <a:ea typeface="Poppins"/>
                <a:cs typeface="Poppins"/>
                <a:sym typeface="Poppins"/>
              </a:rPr>
              <a:t> Data diproses oleh InventoryManager dan divalidasi sesuai aturan program.</a:t>
            </a:r>
          </a:p>
          <a:p>
            <a:pPr algn="just">
              <a:lnSpc>
                <a:spcPts val="3484"/>
              </a:lnSpc>
            </a:pPr>
            <a:r>
              <a:rPr lang="en-US" b="true" sz="2488">
                <a:solidFill>
                  <a:srgbClr val="592718"/>
                </a:solidFill>
                <a:latin typeface="Poppins Bold"/>
                <a:ea typeface="Poppins Bold"/>
                <a:cs typeface="Poppins Bold"/>
                <a:sym typeface="Poppins Bold"/>
              </a:rPr>
              <a:t>Penyimpanan data</a:t>
            </a:r>
          </a:p>
          <a:p>
            <a:pPr algn="just">
              <a:lnSpc>
                <a:spcPts val="3484"/>
              </a:lnSpc>
            </a:pPr>
            <a:r>
              <a:rPr lang="en-US" sz="2488">
                <a:solidFill>
                  <a:srgbClr val="592718"/>
                </a:solidFill>
                <a:latin typeface="Poppins"/>
                <a:ea typeface="Poppins"/>
                <a:cs typeface="Poppins"/>
                <a:sym typeface="Poppins"/>
              </a:rPr>
              <a:t> Data tanaman disimpan secara persisten ke dalam file teks.</a:t>
            </a:r>
          </a:p>
          <a:p>
            <a:pPr algn="just">
              <a:lnSpc>
                <a:spcPts val="3484"/>
              </a:lnSpc>
            </a:pPr>
            <a:r>
              <a:rPr lang="en-US" b="true" sz="2488">
                <a:solidFill>
                  <a:srgbClr val="592718"/>
                </a:solidFill>
                <a:latin typeface="Poppins Bold"/>
                <a:ea typeface="Poppins Bold"/>
                <a:cs typeface="Poppins Bold"/>
                <a:sym typeface="Poppins Bold"/>
              </a:rPr>
              <a:t>Menampilkan data</a:t>
            </a:r>
          </a:p>
          <a:p>
            <a:pPr algn="just">
              <a:lnSpc>
                <a:spcPts val="3484"/>
              </a:lnSpc>
            </a:pPr>
            <a:r>
              <a:rPr lang="en-US" sz="2488">
                <a:solidFill>
                  <a:srgbClr val="592718"/>
                </a:solidFill>
                <a:latin typeface="Poppins"/>
                <a:ea typeface="Poppins"/>
                <a:cs typeface="Poppins"/>
                <a:sym typeface="Poppins"/>
              </a:rPr>
              <a:t> Sistem menampilkan data tanaman dalam bentuk tabel (GUI) atau daftar (Console).</a:t>
            </a:r>
          </a:p>
          <a:p>
            <a:pPr algn="just">
              <a:lnSpc>
                <a:spcPts val="3484"/>
              </a:lnSpc>
            </a:pPr>
            <a:r>
              <a:rPr lang="en-US" b="true" sz="2488">
                <a:solidFill>
                  <a:srgbClr val="592718"/>
                </a:solidFill>
                <a:latin typeface="Poppins Bold"/>
                <a:ea typeface="Poppins Bold"/>
                <a:cs typeface="Poppins Bold"/>
                <a:sym typeface="Poppins Bold"/>
              </a:rPr>
              <a:t>Pembuatan laporan</a:t>
            </a:r>
          </a:p>
          <a:p>
            <a:pPr algn="just">
              <a:lnSpc>
                <a:spcPts val="3484"/>
              </a:lnSpc>
            </a:pPr>
            <a:r>
              <a:rPr lang="en-US" sz="2488">
                <a:solidFill>
                  <a:srgbClr val="592718"/>
                </a:solidFill>
                <a:latin typeface="Poppins"/>
                <a:ea typeface="Poppins"/>
                <a:cs typeface="Poppins"/>
                <a:sym typeface="Poppins"/>
              </a:rPr>
              <a:t> Sistem secara otomatis menghitung stok dan kondisi tanaman untuk laporan inventaris.</a:t>
            </a:r>
          </a:p>
          <a:p>
            <a:pPr algn="just">
              <a:lnSpc>
                <a:spcPts val="3484"/>
              </a:lnSpc>
            </a:pPr>
            <a:r>
              <a:rPr lang="en-US" b="true" sz="2488">
                <a:solidFill>
                  <a:srgbClr val="592718"/>
                </a:solidFill>
                <a:latin typeface="Poppins Bold"/>
                <a:ea typeface="Poppins Bold"/>
                <a:cs typeface="Poppins Bold"/>
                <a:sym typeface="Poppins Bold"/>
              </a:rPr>
              <a:t>Aplikasi ditutup</a:t>
            </a:r>
          </a:p>
          <a:p>
            <a:pPr algn="just">
              <a:lnSpc>
                <a:spcPts val="3484"/>
              </a:lnSpc>
            </a:pPr>
            <a:r>
              <a:rPr lang="en-US" sz="2488">
                <a:solidFill>
                  <a:srgbClr val="592718"/>
                </a:solidFill>
                <a:latin typeface="Poppins"/>
                <a:ea typeface="Poppins"/>
                <a:cs typeface="Poppins"/>
                <a:sym typeface="Poppins"/>
              </a:rPr>
              <a:t> Data tetap tersimpan dan dapat diakses kembali saat aplikasi dijalankan ulang</a:t>
            </a:r>
          </a:p>
          <a:p>
            <a:pPr algn="just">
              <a:lnSpc>
                <a:spcPts val="348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33475" y="290282"/>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19942" y="746326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390195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606250" y="-1558782"/>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7419538"/>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812248" y="1042144"/>
            <a:ext cx="7716476" cy="1395621"/>
          </a:xfrm>
          <a:prstGeom prst="rect">
            <a:avLst/>
          </a:prstGeom>
        </p:spPr>
        <p:txBody>
          <a:bodyPr anchor="t" rtlCol="false" tIns="0" lIns="0" bIns="0" rIns="0">
            <a:spAutoFit/>
          </a:bodyPr>
          <a:lstStyle/>
          <a:p>
            <a:pPr algn="ctr">
              <a:lnSpc>
                <a:spcPts val="5119"/>
              </a:lnSpc>
            </a:pPr>
            <a:r>
              <a:rPr lang="en-US" sz="4530">
                <a:solidFill>
                  <a:srgbClr val="A74B4B"/>
                </a:solidFill>
                <a:latin typeface="Mango AC"/>
                <a:ea typeface="Mango AC"/>
                <a:cs typeface="Mango AC"/>
                <a:sym typeface="Mango AC"/>
              </a:rPr>
              <a:t>HASIL AKHIR APLIKASI</a:t>
            </a:r>
          </a:p>
          <a:p>
            <a:pPr algn="ctr">
              <a:lnSpc>
                <a:spcPts val="5119"/>
              </a:lnSpc>
            </a:pPr>
          </a:p>
        </p:txBody>
      </p:sp>
      <p:sp>
        <p:nvSpPr>
          <p:cNvPr name="TextBox 11" id="11"/>
          <p:cNvSpPr txBox="true"/>
          <p:nvPr/>
        </p:nvSpPr>
        <p:spPr>
          <a:xfrm rot="0">
            <a:off x="4812248" y="2352040"/>
            <a:ext cx="10050735" cy="6948805"/>
          </a:xfrm>
          <a:prstGeom prst="rect">
            <a:avLst/>
          </a:prstGeom>
        </p:spPr>
        <p:txBody>
          <a:bodyPr anchor="t" rtlCol="false" tIns="0" lIns="0" bIns="0" rIns="0">
            <a:spAutoFit/>
          </a:bodyPr>
          <a:lstStyle/>
          <a:p>
            <a:pPr algn="just" marL="604521" indent="-302261" lvl="1">
              <a:lnSpc>
                <a:spcPts val="3920"/>
              </a:lnSpc>
              <a:buFont typeface="Arial"/>
              <a:buChar char="•"/>
            </a:pPr>
            <a:r>
              <a:rPr lang="en-US" sz="2800">
                <a:solidFill>
                  <a:srgbClr val="592718"/>
                </a:solidFill>
                <a:latin typeface="Poppins"/>
                <a:ea typeface="Poppins"/>
                <a:cs typeface="Poppins"/>
                <a:sym typeface="Poppins"/>
              </a:rPr>
              <a:t>Aplikasi inventaris tanaman hias berbasis Java berhasil dibuat.</a:t>
            </a:r>
          </a:p>
          <a:p>
            <a:pPr algn="just" marL="604521" indent="-302261" lvl="1">
              <a:lnSpc>
                <a:spcPts val="3920"/>
              </a:lnSpc>
              <a:buFont typeface="Arial"/>
              <a:buChar char="•"/>
            </a:pPr>
            <a:r>
              <a:rPr lang="en-US" sz="2800">
                <a:solidFill>
                  <a:srgbClr val="592718"/>
                </a:solidFill>
                <a:latin typeface="Poppins"/>
                <a:ea typeface="Poppins"/>
                <a:cs typeface="Poppins"/>
                <a:sym typeface="Poppins"/>
              </a:rPr>
              <a:t>Mendukung dua mode antarmuka (Console dan GUI) dengan data yang konsisten.</a:t>
            </a:r>
          </a:p>
          <a:p>
            <a:pPr algn="just" marL="604521" indent="-302261" lvl="1">
              <a:lnSpc>
                <a:spcPts val="3920"/>
              </a:lnSpc>
              <a:buFont typeface="Arial"/>
              <a:buChar char="•"/>
            </a:pPr>
            <a:r>
              <a:rPr lang="en-US" sz="2800">
                <a:solidFill>
                  <a:srgbClr val="592718"/>
                </a:solidFill>
                <a:latin typeface="Poppins"/>
                <a:ea typeface="Poppins"/>
                <a:cs typeface="Poppins"/>
                <a:sym typeface="Poppins"/>
              </a:rPr>
              <a:t>Fitur CRUD berjalan dengan baik dan terintegrasi.</a:t>
            </a:r>
          </a:p>
          <a:p>
            <a:pPr algn="just" marL="604521" indent="-302261" lvl="1">
              <a:lnSpc>
                <a:spcPts val="3920"/>
              </a:lnSpc>
              <a:buFont typeface="Arial"/>
              <a:buChar char="•"/>
            </a:pPr>
            <a:r>
              <a:rPr lang="en-US" sz="2800">
                <a:solidFill>
                  <a:srgbClr val="592718"/>
                </a:solidFill>
                <a:latin typeface="Poppins"/>
                <a:ea typeface="Poppins"/>
                <a:cs typeface="Poppins"/>
                <a:sym typeface="Poppins"/>
              </a:rPr>
              <a:t>Data inventaris tersimpan secara permanen menggunakan file teks.</a:t>
            </a:r>
          </a:p>
          <a:p>
            <a:pPr algn="just" marL="604521" indent="-302261" lvl="1">
              <a:lnSpc>
                <a:spcPts val="3920"/>
              </a:lnSpc>
              <a:buFont typeface="Arial"/>
              <a:buChar char="•"/>
            </a:pPr>
            <a:r>
              <a:rPr lang="en-US" sz="2800">
                <a:solidFill>
                  <a:srgbClr val="592718"/>
                </a:solidFill>
                <a:latin typeface="Poppins"/>
                <a:ea typeface="Poppins"/>
                <a:cs typeface="Poppins"/>
                <a:sym typeface="Poppins"/>
              </a:rPr>
              <a:t>Laporan inventaris ditampilkan secara otomatis dan akurat.</a:t>
            </a:r>
          </a:p>
          <a:p>
            <a:pPr algn="just" marL="604521" indent="-302261" lvl="1">
              <a:lnSpc>
                <a:spcPts val="3920"/>
              </a:lnSpc>
              <a:buFont typeface="Arial"/>
              <a:buChar char="•"/>
            </a:pPr>
            <a:r>
              <a:rPr lang="en-US" sz="2800">
                <a:solidFill>
                  <a:srgbClr val="592718"/>
                </a:solidFill>
                <a:latin typeface="Poppins"/>
                <a:ea typeface="Poppins"/>
                <a:cs typeface="Poppins"/>
                <a:sym typeface="Poppins"/>
              </a:rPr>
              <a:t>Penerapan konsep Object Oriented Programming berjalan secara nyata dan terstruktur.</a:t>
            </a:r>
          </a:p>
          <a:p>
            <a:pPr algn="just" marL="604521" indent="-302261" lvl="1">
              <a:lnSpc>
                <a:spcPts val="3920"/>
              </a:lnSpc>
              <a:buFont typeface="Arial"/>
              <a:buChar char="•"/>
            </a:pPr>
            <a:r>
              <a:rPr lang="en-US" sz="2800">
                <a:solidFill>
                  <a:srgbClr val="592718"/>
                </a:solidFill>
                <a:latin typeface="Poppins"/>
                <a:ea typeface="Poppins"/>
                <a:cs typeface="Poppins"/>
                <a:sym typeface="Poppins"/>
              </a:rPr>
              <a:t>Antarmuka GUI user-friendly dengan tampilan modern dan interaktif.</a:t>
            </a:r>
          </a:p>
          <a:p>
            <a:pPr algn="just" marL="0" indent="0" lvl="0">
              <a:lnSpc>
                <a:spcPts val="392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33475" y="290282"/>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76442" y="438503"/>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44259" y="8283476"/>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563095" y="5319961"/>
            <a:ext cx="1126191" cy="1355372"/>
          </a:xfrm>
          <a:custGeom>
            <a:avLst/>
            <a:gdLst/>
            <a:ahLst/>
            <a:cxnLst/>
            <a:rect r="r" b="b" t="t" l="l"/>
            <a:pathLst>
              <a:path h="1355372" w="1126191">
                <a:moveTo>
                  <a:pt x="0" y="0"/>
                </a:moveTo>
                <a:lnTo>
                  <a:pt x="1126190" y="0"/>
                </a:lnTo>
                <a:lnTo>
                  <a:pt x="1126190"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606250" y="-1558782"/>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7717030" y="5461292"/>
            <a:ext cx="1141940" cy="1374326"/>
          </a:xfrm>
          <a:custGeom>
            <a:avLst/>
            <a:gdLst/>
            <a:ahLst/>
            <a:cxnLst/>
            <a:rect r="r" b="b" t="t" l="l"/>
            <a:pathLst>
              <a:path h="1374326" w="1141940">
                <a:moveTo>
                  <a:pt x="0" y="0"/>
                </a:moveTo>
                <a:lnTo>
                  <a:pt x="1141940" y="0"/>
                </a:lnTo>
                <a:lnTo>
                  <a:pt x="1141940" y="1374327"/>
                </a:lnTo>
                <a:lnTo>
                  <a:pt x="0" y="13743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6501931" y="343296"/>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7419538"/>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0" y="2019989"/>
            <a:ext cx="11301259" cy="4011947"/>
          </a:xfrm>
          <a:custGeom>
            <a:avLst/>
            <a:gdLst/>
            <a:ahLst/>
            <a:cxnLst/>
            <a:rect r="r" b="b" t="t" l="l"/>
            <a:pathLst>
              <a:path h="4011947" w="11301259">
                <a:moveTo>
                  <a:pt x="0" y="0"/>
                </a:moveTo>
                <a:lnTo>
                  <a:pt x="11301259" y="0"/>
                </a:lnTo>
                <a:lnTo>
                  <a:pt x="11301259" y="4011947"/>
                </a:lnTo>
                <a:lnTo>
                  <a:pt x="0" y="4011947"/>
                </a:lnTo>
                <a:lnTo>
                  <a:pt x="0" y="0"/>
                </a:lnTo>
                <a:close/>
              </a:path>
            </a:pathLst>
          </a:custGeom>
          <a:blipFill>
            <a:blip r:embed="rId10"/>
            <a:stretch>
              <a:fillRect l="0" t="0" r="0" b="0"/>
            </a:stretch>
          </a:blipFill>
        </p:spPr>
      </p:sp>
      <p:sp>
        <p:nvSpPr>
          <p:cNvPr name="TextBox 11" id="11"/>
          <p:cNvSpPr txBox="true"/>
          <p:nvPr/>
        </p:nvSpPr>
        <p:spPr>
          <a:xfrm rot="0">
            <a:off x="1028700" y="971550"/>
            <a:ext cx="7716476" cy="746525"/>
          </a:xfrm>
          <a:prstGeom prst="rect">
            <a:avLst/>
          </a:prstGeom>
        </p:spPr>
        <p:txBody>
          <a:bodyPr anchor="t" rtlCol="false" tIns="0" lIns="0" bIns="0" rIns="0">
            <a:spAutoFit/>
          </a:bodyPr>
          <a:lstStyle/>
          <a:p>
            <a:pPr algn="ctr">
              <a:lnSpc>
                <a:spcPts val="5119"/>
              </a:lnSpc>
            </a:pPr>
            <a:r>
              <a:rPr lang="en-US" sz="4530">
                <a:solidFill>
                  <a:srgbClr val="A74B4B"/>
                </a:solidFill>
                <a:latin typeface="Mango AC"/>
                <a:ea typeface="Mango AC"/>
                <a:cs typeface="Mango AC"/>
                <a:sym typeface="Mango AC"/>
              </a:rPr>
              <a:t>PEMILIHAN MODE</a:t>
            </a:r>
          </a:p>
        </p:txBody>
      </p:sp>
      <p:sp>
        <p:nvSpPr>
          <p:cNvPr name="TextBox 12" id="12"/>
          <p:cNvSpPr txBox="true"/>
          <p:nvPr/>
        </p:nvSpPr>
        <p:spPr>
          <a:xfrm rot="0">
            <a:off x="11645357" y="621855"/>
            <a:ext cx="5929839" cy="7661621"/>
          </a:xfrm>
          <a:prstGeom prst="rect">
            <a:avLst/>
          </a:prstGeom>
        </p:spPr>
        <p:txBody>
          <a:bodyPr anchor="t" rtlCol="false" tIns="0" lIns="0" bIns="0" rIns="0">
            <a:spAutoFit/>
          </a:bodyPr>
          <a:lstStyle/>
          <a:p>
            <a:pPr algn="just" marL="0" indent="0" lvl="0">
              <a:lnSpc>
                <a:spcPts val="4040"/>
              </a:lnSpc>
            </a:pPr>
            <a:r>
              <a:rPr lang="en-US" sz="2886">
                <a:solidFill>
                  <a:srgbClr val="592718"/>
                </a:solidFill>
                <a:latin typeface="Poppins"/>
                <a:ea typeface="Poppins"/>
                <a:cs typeface="Poppins"/>
                <a:sym typeface="Poppins"/>
              </a:rPr>
              <a:t>Tampilan tersebut merupakan menu awal aplikasi SPIM yang berfungsi untuk memilih mode penggunaan aplikasi. Pengguna dapat memilih Mode Console (CLI) untuk menjalankan aplikasi berbasis teks atau Mode GUI untuk menggunakan antarmuka grafis yang lebih visual dan interaktif. Pilihan ini memberikan fleksibilitas kepada pengguna sesuai dengan kebutuhan dan preferensi penggunaan.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272331"/>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93329" y="9473256"/>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4069500" y="-2088864"/>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7717030" y="473116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6324503" y="-8958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229" y="905897"/>
            <a:ext cx="11301259" cy="5575788"/>
          </a:xfrm>
          <a:custGeom>
            <a:avLst/>
            <a:gdLst/>
            <a:ahLst/>
            <a:cxnLst/>
            <a:rect r="r" b="b" t="t" l="l"/>
            <a:pathLst>
              <a:path h="5575788" w="11301259">
                <a:moveTo>
                  <a:pt x="0" y="0"/>
                </a:moveTo>
                <a:lnTo>
                  <a:pt x="11301259" y="0"/>
                </a:lnTo>
                <a:lnTo>
                  <a:pt x="11301259" y="5575788"/>
                </a:lnTo>
                <a:lnTo>
                  <a:pt x="0" y="5575788"/>
                </a:lnTo>
                <a:lnTo>
                  <a:pt x="0" y="0"/>
                </a:lnTo>
                <a:close/>
              </a:path>
            </a:pathLst>
          </a:custGeom>
          <a:blipFill>
            <a:blip r:embed="rId10"/>
            <a:stretch>
              <a:fillRect l="-6873" t="0" r="-6873" b="0"/>
            </a:stretch>
          </a:blipFill>
        </p:spPr>
      </p:sp>
      <p:sp>
        <p:nvSpPr>
          <p:cNvPr name="Freeform 11" id="11"/>
          <p:cNvSpPr/>
          <p:nvPr/>
        </p:nvSpPr>
        <p:spPr>
          <a:xfrm flipH="false" flipV="false" rot="0">
            <a:off x="-263694" y="6834282"/>
            <a:ext cx="11581182" cy="2424018"/>
          </a:xfrm>
          <a:custGeom>
            <a:avLst/>
            <a:gdLst/>
            <a:ahLst/>
            <a:cxnLst/>
            <a:rect r="r" b="b" t="t" l="l"/>
            <a:pathLst>
              <a:path h="2424018" w="11581182">
                <a:moveTo>
                  <a:pt x="0" y="0"/>
                </a:moveTo>
                <a:lnTo>
                  <a:pt x="11581182" y="0"/>
                </a:lnTo>
                <a:lnTo>
                  <a:pt x="11581182" y="2424018"/>
                </a:lnTo>
                <a:lnTo>
                  <a:pt x="0" y="2424018"/>
                </a:lnTo>
                <a:lnTo>
                  <a:pt x="0" y="0"/>
                </a:lnTo>
                <a:close/>
              </a:path>
            </a:pathLst>
          </a:custGeom>
          <a:blipFill>
            <a:blip r:embed="rId11"/>
            <a:stretch>
              <a:fillRect l="-6569" t="0" r="-6569" b="0"/>
            </a:stretch>
          </a:blipFill>
        </p:spPr>
      </p:sp>
      <p:sp>
        <p:nvSpPr>
          <p:cNvPr name="TextBox 12" id="12"/>
          <p:cNvSpPr txBox="true"/>
          <p:nvPr/>
        </p:nvSpPr>
        <p:spPr>
          <a:xfrm rot="0">
            <a:off x="1348014" y="-57150"/>
            <a:ext cx="6980571" cy="1069677"/>
          </a:xfrm>
          <a:prstGeom prst="rect">
            <a:avLst/>
          </a:prstGeom>
        </p:spPr>
        <p:txBody>
          <a:bodyPr anchor="t" rtlCol="false" tIns="0" lIns="0" bIns="0" rIns="0">
            <a:spAutoFit/>
          </a:bodyPr>
          <a:lstStyle/>
          <a:p>
            <a:pPr algn="ctr">
              <a:lnSpc>
                <a:spcPts val="3903"/>
              </a:lnSpc>
            </a:pPr>
            <a:r>
              <a:rPr lang="en-US" sz="3454">
                <a:solidFill>
                  <a:srgbClr val="A74B4B"/>
                </a:solidFill>
                <a:latin typeface="Mango AC"/>
                <a:ea typeface="Mango AC"/>
                <a:cs typeface="Mango AC"/>
                <a:sym typeface="Mango AC"/>
              </a:rPr>
              <a:t>MENU UTAMA CONSOLE &amp; GUI</a:t>
            </a:r>
          </a:p>
        </p:txBody>
      </p:sp>
      <p:sp>
        <p:nvSpPr>
          <p:cNvPr name="TextBox 13" id="13"/>
          <p:cNvSpPr txBox="true"/>
          <p:nvPr/>
        </p:nvSpPr>
        <p:spPr>
          <a:xfrm rot="0">
            <a:off x="11594980" y="67932"/>
            <a:ext cx="5525236" cy="9539799"/>
          </a:xfrm>
          <a:prstGeom prst="rect">
            <a:avLst/>
          </a:prstGeom>
        </p:spPr>
        <p:txBody>
          <a:bodyPr anchor="t" rtlCol="false" tIns="0" lIns="0" bIns="0" rIns="0">
            <a:spAutoFit/>
          </a:bodyPr>
          <a:lstStyle/>
          <a:p>
            <a:pPr algn="ctr">
              <a:lnSpc>
                <a:spcPts val="3064"/>
              </a:lnSpc>
            </a:pPr>
            <a:r>
              <a:rPr lang="en-US" sz="2188" b="true">
                <a:solidFill>
                  <a:srgbClr val="592718"/>
                </a:solidFill>
                <a:latin typeface="Poppins Bold"/>
                <a:ea typeface="Poppins Bold"/>
                <a:cs typeface="Poppins Bold"/>
                <a:sym typeface="Poppins Bold"/>
              </a:rPr>
              <a:t>ampilan pada gambar ini merupakan menu utama aplikasi SPIM (Smart Plant Inventory Management) yang dibuat berbasis console menggunakan bahasa pemrograman Java.</a:t>
            </a:r>
          </a:p>
          <a:p>
            <a:pPr algn="ctr">
              <a:lnSpc>
                <a:spcPts val="3064"/>
              </a:lnSpc>
            </a:pPr>
            <a:r>
              <a:rPr lang="en-US" sz="2188" b="true">
                <a:solidFill>
                  <a:srgbClr val="592718"/>
                </a:solidFill>
                <a:latin typeface="Poppins Bold"/>
                <a:ea typeface="Poppins Bold"/>
                <a:cs typeface="Poppins Bold"/>
                <a:sym typeface="Poppins Bold"/>
              </a:rPr>
              <a:t> Menu utama berfungsi sebagai pusat navigasi aplikasi, dimana pengguna dapat memilih berbagai fitur pengelolaan inventaris tanaman hias.</a:t>
            </a:r>
          </a:p>
          <a:p>
            <a:pPr algn="ctr">
              <a:lnSpc>
                <a:spcPts val="3064"/>
              </a:lnSpc>
            </a:pPr>
            <a:r>
              <a:rPr lang="en-US" sz="2188" b="true">
                <a:solidFill>
                  <a:srgbClr val="592718"/>
                </a:solidFill>
                <a:latin typeface="Poppins Bold"/>
                <a:ea typeface="Poppins Bold"/>
                <a:cs typeface="Poppins Bold"/>
                <a:sym typeface="Poppins Bold"/>
              </a:rPr>
              <a:t>Pada menu ini, pengguna disajikan beberapa pilihan seperti menambah data tanaman, melihat data inventaris, memperbarui data tanaman, menghapus data tanaman, menampilkan laporan inventaris, dan keluar dari aplikasi.</a:t>
            </a:r>
          </a:p>
          <a:p>
            <a:pPr algn="ctr">
              <a:lnSpc>
                <a:spcPts val="3064"/>
              </a:lnSpc>
            </a:pPr>
            <a:r>
              <a:rPr lang="en-US" sz="2188" b="true">
                <a:solidFill>
                  <a:srgbClr val="592718"/>
                </a:solidFill>
                <a:latin typeface="Poppins Bold"/>
                <a:ea typeface="Poppins Bold"/>
                <a:cs typeface="Poppins Bold"/>
                <a:sym typeface="Poppins Bold"/>
              </a:rPr>
              <a:t> Menu dibuat secara terstruktur dan interaktif sehingga memudahkan pengguna dalam mengoperasikan aplikasi meskipun berbasis teks.</a:t>
            </a:r>
          </a:p>
          <a:p>
            <a:pPr algn="ctr">
              <a:lnSpc>
                <a:spcPts val="3064"/>
              </a:lnSpc>
            </a:pPr>
            <a:r>
              <a:rPr lang="en-US" sz="2188" b="true">
                <a:solidFill>
                  <a:srgbClr val="592718"/>
                </a:solidFill>
                <a:latin typeface="Poppins Bold"/>
                <a:ea typeface="Poppins Bold"/>
                <a:cs typeface="Poppins Bold"/>
                <a:sym typeface="Poppins Bold"/>
              </a:rPr>
              <a:t> Validasi input juga diterapkan agar pengguna hanya dapat memilih menu yang tersedia.</a:t>
            </a:r>
          </a:p>
          <a:p>
            <a:pPr algn="ctr" marL="0" indent="0" lvl="0">
              <a:lnSpc>
                <a:spcPts val="3064"/>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33475" y="748098"/>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131497"/>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19942" y="746326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563095" y="4303006"/>
            <a:ext cx="1126191" cy="1355372"/>
          </a:xfrm>
          <a:custGeom>
            <a:avLst/>
            <a:gdLst/>
            <a:ahLst/>
            <a:cxnLst/>
            <a:rect r="r" b="b" t="t" l="l"/>
            <a:pathLst>
              <a:path h="1355372" w="1126191">
                <a:moveTo>
                  <a:pt x="0" y="0"/>
                </a:moveTo>
                <a:lnTo>
                  <a:pt x="1126190" y="0"/>
                </a:lnTo>
                <a:lnTo>
                  <a:pt x="1126190"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606250" y="-1558782"/>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7419538"/>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718683" y="1697936"/>
            <a:ext cx="11301259" cy="6173313"/>
          </a:xfrm>
          <a:custGeom>
            <a:avLst/>
            <a:gdLst/>
            <a:ahLst/>
            <a:cxnLst/>
            <a:rect r="r" b="b" t="t" l="l"/>
            <a:pathLst>
              <a:path h="6173313" w="11301259">
                <a:moveTo>
                  <a:pt x="0" y="0"/>
                </a:moveTo>
                <a:lnTo>
                  <a:pt x="11301259" y="0"/>
                </a:lnTo>
                <a:lnTo>
                  <a:pt x="11301259" y="6173312"/>
                </a:lnTo>
                <a:lnTo>
                  <a:pt x="0" y="6173312"/>
                </a:lnTo>
                <a:lnTo>
                  <a:pt x="0" y="0"/>
                </a:lnTo>
                <a:close/>
              </a:path>
            </a:pathLst>
          </a:custGeom>
          <a:blipFill>
            <a:blip r:embed="rId10"/>
            <a:stretch>
              <a:fillRect l="0" t="0" r="0" b="0"/>
            </a:stretch>
          </a:blipFill>
        </p:spPr>
      </p:sp>
      <p:sp>
        <p:nvSpPr>
          <p:cNvPr name="TextBox 11" id="11"/>
          <p:cNvSpPr txBox="true"/>
          <p:nvPr/>
        </p:nvSpPr>
        <p:spPr>
          <a:xfrm rot="0">
            <a:off x="4010025" y="163161"/>
            <a:ext cx="7716476" cy="1395621"/>
          </a:xfrm>
          <a:prstGeom prst="rect">
            <a:avLst/>
          </a:prstGeom>
        </p:spPr>
        <p:txBody>
          <a:bodyPr anchor="t" rtlCol="false" tIns="0" lIns="0" bIns="0" rIns="0">
            <a:spAutoFit/>
          </a:bodyPr>
          <a:lstStyle/>
          <a:p>
            <a:pPr algn="ctr">
              <a:lnSpc>
                <a:spcPts val="5119"/>
              </a:lnSpc>
            </a:pPr>
            <a:r>
              <a:rPr lang="en-US" sz="4530">
                <a:solidFill>
                  <a:srgbClr val="A74B4B"/>
                </a:solidFill>
                <a:latin typeface="Mango AC"/>
                <a:ea typeface="Mango AC"/>
                <a:cs typeface="Mango AC"/>
                <a:sym typeface="Mango AC"/>
              </a:rPr>
              <a:t>TAMPILAN TAMBAH DATA GUI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272331"/>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93329" y="8455887"/>
            <a:ext cx="6356137" cy="3117564"/>
          </a:xfrm>
          <a:custGeom>
            <a:avLst/>
            <a:gdLst/>
            <a:ahLst/>
            <a:cxnLst/>
            <a:rect r="r" b="b" t="t" l="l"/>
            <a:pathLst>
              <a:path h="3117564" w="6356137">
                <a:moveTo>
                  <a:pt x="0" y="0"/>
                </a:moveTo>
                <a:lnTo>
                  <a:pt x="6356136" y="0"/>
                </a:lnTo>
                <a:lnTo>
                  <a:pt x="6356136"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3178068" y="-15587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7717030" y="473116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6065475" y="164761"/>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04666" y="1351591"/>
            <a:ext cx="9440182" cy="7123361"/>
          </a:xfrm>
          <a:custGeom>
            <a:avLst/>
            <a:gdLst/>
            <a:ahLst/>
            <a:cxnLst/>
            <a:rect r="r" b="b" t="t" l="l"/>
            <a:pathLst>
              <a:path h="7123361" w="9440182">
                <a:moveTo>
                  <a:pt x="0" y="0"/>
                </a:moveTo>
                <a:lnTo>
                  <a:pt x="9440181" y="0"/>
                </a:lnTo>
                <a:lnTo>
                  <a:pt x="9440181" y="7123360"/>
                </a:lnTo>
                <a:lnTo>
                  <a:pt x="0" y="7123360"/>
                </a:lnTo>
                <a:lnTo>
                  <a:pt x="0" y="0"/>
                </a:lnTo>
                <a:close/>
              </a:path>
            </a:pathLst>
          </a:custGeom>
          <a:blipFill>
            <a:blip r:embed="rId10"/>
            <a:stretch>
              <a:fillRect l="0" t="0" r="0" b="0"/>
            </a:stretch>
          </a:blipFill>
        </p:spPr>
      </p:sp>
      <p:sp>
        <p:nvSpPr>
          <p:cNvPr name="Freeform 11" id="11"/>
          <p:cNvSpPr/>
          <p:nvPr/>
        </p:nvSpPr>
        <p:spPr>
          <a:xfrm flipH="false" flipV="false" rot="0">
            <a:off x="7423624" y="7081155"/>
            <a:ext cx="10247773" cy="4354291"/>
          </a:xfrm>
          <a:custGeom>
            <a:avLst/>
            <a:gdLst/>
            <a:ahLst/>
            <a:cxnLst/>
            <a:rect r="r" b="b" t="t" l="l"/>
            <a:pathLst>
              <a:path h="4354291" w="10247773">
                <a:moveTo>
                  <a:pt x="0" y="0"/>
                </a:moveTo>
                <a:lnTo>
                  <a:pt x="10247773" y="0"/>
                </a:lnTo>
                <a:lnTo>
                  <a:pt x="10247773" y="4354290"/>
                </a:lnTo>
                <a:lnTo>
                  <a:pt x="0" y="4354290"/>
                </a:lnTo>
                <a:lnTo>
                  <a:pt x="0" y="0"/>
                </a:lnTo>
                <a:close/>
              </a:path>
            </a:pathLst>
          </a:custGeom>
          <a:blipFill>
            <a:blip r:embed="rId11"/>
            <a:stretch>
              <a:fillRect l="0" t="0" r="0" b="0"/>
            </a:stretch>
          </a:blipFill>
        </p:spPr>
      </p:sp>
      <p:sp>
        <p:nvSpPr>
          <p:cNvPr name="TextBox 12" id="12"/>
          <p:cNvSpPr txBox="true"/>
          <p:nvPr/>
        </p:nvSpPr>
        <p:spPr>
          <a:xfrm rot="0">
            <a:off x="1028700" y="-57150"/>
            <a:ext cx="7792113" cy="1408741"/>
          </a:xfrm>
          <a:prstGeom prst="rect">
            <a:avLst/>
          </a:prstGeom>
        </p:spPr>
        <p:txBody>
          <a:bodyPr anchor="t" rtlCol="false" tIns="0" lIns="0" bIns="0" rIns="0">
            <a:spAutoFit/>
          </a:bodyPr>
          <a:lstStyle/>
          <a:p>
            <a:pPr algn="ctr">
              <a:lnSpc>
                <a:spcPts val="5170"/>
              </a:lnSpc>
            </a:pPr>
            <a:r>
              <a:rPr lang="en-US" sz="4575">
                <a:solidFill>
                  <a:srgbClr val="A74B4B"/>
                </a:solidFill>
                <a:latin typeface="Mango AC"/>
                <a:ea typeface="Mango AC"/>
                <a:cs typeface="Mango AC"/>
                <a:sym typeface="Mango AC"/>
              </a:rPr>
              <a:t>MENU TAMBAH DATA TANAMAN</a:t>
            </a:r>
          </a:p>
        </p:txBody>
      </p:sp>
      <p:sp>
        <p:nvSpPr>
          <p:cNvPr name="TextBox 13" id="13"/>
          <p:cNvSpPr txBox="true"/>
          <p:nvPr/>
        </p:nvSpPr>
        <p:spPr>
          <a:xfrm rot="0">
            <a:off x="9720990" y="85503"/>
            <a:ext cx="8307982" cy="6698261"/>
          </a:xfrm>
          <a:prstGeom prst="rect">
            <a:avLst/>
          </a:prstGeom>
        </p:spPr>
        <p:txBody>
          <a:bodyPr anchor="t" rtlCol="false" tIns="0" lIns="0" bIns="0" rIns="0">
            <a:spAutoFit/>
          </a:bodyPr>
          <a:lstStyle/>
          <a:p>
            <a:pPr algn="ctr">
              <a:lnSpc>
                <a:spcPts val="3163"/>
              </a:lnSpc>
            </a:pPr>
            <a:r>
              <a:rPr lang="en-US" sz="2259" b="true">
                <a:solidFill>
                  <a:srgbClr val="592718"/>
                </a:solidFill>
                <a:latin typeface="Poppins Bold"/>
                <a:ea typeface="Poppins Bold"/>
                <a:cs typeface="Poppins Bold"/>
                <a:sym typeface="Poppins Bold"/>
              </a:rPr>
              <a:t>Screenshot ini menampilkan form input data tanaman pada aplikasi SPIM.</a:t>
            </a:r>
          </a:p>
          <a:p>
            <a:pPr algn="ctr">
              <a:lnSpc>
                <a:spcPts val="3163"/>
              </a:lnSpc>
            </a:pPr>
            <a:r>
              <a:rPr lang="en-US" sz="2259" b="true">
                <a:solidFill>
                  <a:srgbClr val="592718"/>
                </a:solidFill>
                <a:latin typeface="Poppins Bold"/>
                <a:ea typeface="Poppins Bold"/>
                <a:cs typeface="Poppins Bold"/>
                <a:sym typeface="Poppins Bold"/>
              </a:rPr>
              <a:t> Pada tahap ini, pengguna diminta untuk memasukkan data tanaman secara lengkap, seperti ID tanaman, nama tanaman, jenis tanaman, jumlah stok, kondisi tanaman, serta informasi tambahan sesuai jenis tanaman.</a:t>
            </a:r>
          </a:p>
          <a:p>
            <a:pPr algn="ctr">
              <a:lnSpc>
                <a:spcPts val="3163"/>
              </a:lnSpc>
            </a:pPr>
            <a:r>
              <a:rPr lang="en-US" sz="2259" b="true">
                <a:solidFill>
                  <a:srgbClr val="592718"/>
                </a:solidFill>
                <a:latin typeface="Poppins Bold"/>
                <a:ea typeface="Poppins Bold"/>
                <a:cs typeface="Poppins Bold"/>
                <a:sym typeface="Poppins Bold"/>
              </a:rPr>
              <a:t>Aplikasi mendukung beberapa tipe tanaman, yaitu tanaman biasa, tanaman hias indoor, dan tanaman hias outdoor.</a:t>
            </a:r>
          </a:p>
          <a:p>
            <a:pPr algn="ctr">
              <a:lnSpc>
                <a:spcPts val="3163"/>
              </a:lnSpc>
            </a:pPr>
            <a:r>
              <a:rPr lang="en-US" sz="2259" b="true">
                <a:solidFill>
                  <a:srgbClr val="592718"/>
                </a:solidFill>
                <a:latin typeface="Poppins Bold"/>
                <a:ea typeface="Poppins Bold"/>
                <a:cs typeface="Poppins Bold"/>
                <a:sym typeface="Poppins Bold"/>
              </a:rPr>
              <a:t> Sistem akan memproses data yang diinput dan melakukan validasi, misalnya memastikan stok tidak bernilai negatif.</a:t>
            </a:r>
          </a:p>
          <a:p>
            <a:pPr algn="ctr">
              <a:lnSpc>
                <a:spcPts val="3163"/>
              </a:lnSpc>
            </a:pPr>
            <a:r>
              <a:rPr lang="en-US" sz="2259" b="true">
                <a:solidFill>
                  <a:srgbClr val="592718"/>
                </a:solidFill>
                <a:latin typeface="Poppins Bold"/>
                <a:ea typeface="Poppins Bold"/>
                <a:cs typeface="Poppins Bold"/>
                <a:sym typeface="Poppins Bold"/>
              </a:rPr>
              <a:t> Setelah data berhasil dimasukkan, sistem akan menyimpan data tanaman secara otomatis ke dalam file teks sebagai penyimpanan permanen.</a:t>
            </a:r>
          </a:p>
          <a:p>
            <a:pPr algn="ctr" marL="0" indent="0" lvl="0">
              <a:lnSpc>
                <a:spcPts val="3163"/>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661071" y="-794845"/>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515898" y="9032126"/>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3441762" y="-2088864"/>
            <a:ext cx="6356137" cy="3117564"/>
          </a:xfrm>
          <a:custGeom>
            <a:avLst/>
            <a:gdLst/>
            <a:ahLst/>
            <a:cxnLst/>
            <a:rect r="r" b="b" t="t" l="l"/>
            <a:pathLst>
              <a:path h="3117564" w="6356137">
                <a:moveTo>
                  <a:pt x="0" y="3117564"/>
                </a:moveTo>
                <a:lnTo>
                  <a:pt x="6356137" y="3117564"/>
                </a:lnTo>
                <a:lnTo>
                  <a:pt x="6356137"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7717030" y="473116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6065475" y="164761"/>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63694" y="1028700"/>
            <a:ext cx="12813583" cy="5256680"/>
          </a:xfrm>
          <a:custGeom>
            <a:avLst/>
            <a:gdLst/>
            <a:ahLst/>
            <a:cxnLst/>
            <a:rect r="r" b="b" t="t" l="l"/>
            <a:pathLst>
              <a:path h="5256680" w="12813583">
                <a:moveTo>
                  <a:pt x="0" y="0"/>
                </a:moveTo>
                <a:lnTo>
                  <a:pt x="12813584" y="0"/>
                </a:lnTo>
                <a:lnTo>
                  <a:pt x="12813584" y="5256680"/>
                </a:lnTo>
                <a:lnTo>
                  <a:pt x="0" y="5256680"/>
                </a:lnTo>
                <a:lnTo>
                  <a:pt x="0" y="0"/>
                </a:lnTo>
                <a:close/>
              </a:path>
            </a:pathLst>
          </a:custGeom>
          <a:blipFill>
            <a:blip r:embed="rId10"/>
            <a:stretch>
              <a:fillRect l="-4231" t="0" r="-4231" b="0"/>
            </a:stretch>
          </a:blipFill>
        </p:spPr>
      </p:sp>
      <p:sp>
        <p:nvSpPr>
          <p:cNvPr name="Freeform 11" id="11"/>
          <p:cNvSpPr/>
          <p:nvPr/>
        </p:nvSpPr>
        <p:spPr>
          <a:xfrm flipH="false" flipV="false" rot="0">
            <a:off x="268987" y="5978395"/>
            <a:ext cx="11301259" cy="4308605"/>
          </a:xfrm>
          <a:custGeom>
            <a:avLst/>
            <a:gdLst/>
            <a:ahLst/>
            <a:cxnLst/>
            <a:rect r="r" b="b" t="t" l="l"/>
            <a:pathLst>
              <a:path h="4308605" w="11301259">
                <a:moveTo>
                  <a:pt x="0" y="0"/>
                </a:moveTo>
                <a:lnTo>
                  <a:pt x="11301259" y="0"/>
                </a:lnTo>
                <a:lnTo>
                  <a:pt x="11301259" y="4308605"/>
                </a:lnTo>
                <a:lnTo>
                  <a:pt x="0" y="4308605"/>
                </a:lnTo>
                <a:lnTo>
                  <a:pt x="0" y="0"/>
                </a:lnTo>
                <a:close/>
              </a:path>
            </a:pathLst>
          </a:custGeom>
          <a:blipFill>
            <a:blip r:embed="rId11"/>
            <a:stretch>
              <a:fillRect l="0" t="0" r="0" b="0"/>
            </a:stretch>
          </a:blipFill>
        </p:spPr>
      </p:sp>
      <p:sp>
        <p:nvSpPr>
          <p:cNvPr name="TextBox 12" id="12"/>
          <p:cNvSpPr txBox="true"/>
          <p:nvPr/>
        </p:nvSpPr>
        <p:spPr>
          <a:xfrm rot="0">
            <a:off x="615613" y="161467"/>
            <a:ext cx="7665716" cy="597656"/>
          </a:xfrm>
          <a:prstGeom prst="rect">
            <a:avLst/>
          </a:prstGeom>
        </p:spPr>
        <p:txBody>
          <a:bodyPr anchor="t" rtlCol="false" tIns="0" lIns="0" bIns="0" rIns="0">
            <a:spAutoFit/>
          </a:bodyPr>
          <a:lstStyle/>
          <a:p>
            <a:pPr algn="ctr">
              <a:lnSpc>
                <a:spcPts val="4014"/>
              </a:lnSpc>
            </a:pPr>
            <a:r>
              <a:rPr lang="en-US" sz="3552">
                <a:solidFill>
                  <a:srgbClr val="A74B4B"/>
                </a:solidFill>
                <a:latin typeface="Mango AC"/>
                <a:ea typeface="Mango AC"/>
                <a:cs typeface="Mango AC"/>
                <a:sym typeface="Mango AC"/>
              </a:rPr>
              <a:t>MENU LIHAT DATA TANAMAN</a:t>
            </a:r>
          </a:p>
        </p:txBody>
      </p:sp>
      <p:sp>
        <p:nvSpPr>
          <p:cNvPr name="TextBox 13" id="13"/>
          <p:cNvSpPr txBox="true"/>
          <p:nvPr/>
        </p:nvSpPr>
        <p:spPr>
          <a:xfrm rot="0">
            <a:off x="12823313" y="431720"/>
            <a:ext cx="5026148" cy="8399844"/>
          </a:xfrm>
          <a:prstGeom prst="rect">
            <a:avLst/>
          </a:prstGeom>
        </p:spPr>
        <p:txBody>
          <a:bodyPr anchor="t" rtlCol="false" tIns="0" lIns="0" bIns="0" rIns="0">
            <a:spAutoFit/>
          </a:bodyPr>
          <a:lstStyle/>
          <a:p>
            <a:pPr algn="ctr">
              <a:lnSpc>
                <a:spcPts val="3216"/>
              </a:lnSpc>
            </a:pPr>
            <a:r>
              <a:rPr lang="en-US" sz="2297" b="true">
                <a:solidFill>
                  <a:srgbClr val="592718"/>
                </a:solidFill>
                <a:latin typeface="Poppins Bold"/>
                <a:ea typeface="Poppins Bold"/>
                <a:cs typeface="Poppins Bold"/>
                <a:sym typeface="Poppins Bold"/>
              </a:rPr>
              <a:t>Tampilan ini menunjukkan daftar seluruh data inventaris tanaman hias yang tersimpan dalam sistem.</a:t>
            </a:r>
          </a:p>
          <a:p>
            <a:pPr algn="ctr">
              <a:lnSpc>
                <a:spcPts val="3216"/>
              </a:lnSpc>
            </a:pPr>
            <a:r>
              <a:rPr lang="en-US" sz="2297" b="true">
                <a:solidFill>
                  <a:srgbClr val="592718"/>
                </a:solidFill>
                <a:latin typeface="Poppins Bold"/>
                <a:ea typeface="Poppins Bold"/>
                <a:cs typeface="Poppins Bold"/>
                <a:sym typeface="Poppins Bold"/>
              </a:rPr>
              <a:t> Data ditampilkan dalam bentuk tabel sederhana berbasis console yang berisi informasi seperti ID tanaman, nama tanaman, jenis tanaman, jumlah stok, kondisi tanaman, dan keterangan tambahan.</a:t>
            </a:r>
          </a:p>
          <a:p>
            <a:pPr algn="ctr">
              <a:lnSpc>
                <a:spcPts val="3216"/>
              </a:lnSpc>
            </a:pPr>
            <a:r>
              <a:rPr lang="en-US" sz="2297" b="true">
                <a:solidFill>
                  <a:srgbClr val="592718"/>
                </a:solidFill>
                <a:latin typeface="Poppins Bold"/>
                <a:ea typeface="Poppins Bold"/>
                <a:cs typeface="Poppins Bold"/>
                <a:sym typeface="Poppins Bold"/>
              </a:rPr>
              <a:t>Melalui fitur ini, pengguna dapat dengan mudah melakukan monitoring terhadap stok dan kondisi tanaman yang tersedia.</a:t>
            </a:r>
          </a:p>
          <a:p>
            <a:pPr algn="ctr">
              <a:lnSpc>
                <a:spcPts val="3216"/>
              </a:lnSpc>
            </a:pPr>
            <a:r>
              <a:rPr lang="en-US" sz="2297" b="true">
                <a:solidFill>
                  <a:srgbClr val="592718"/>
                </a:solidFill>
                <a:latin typeface="Poppins Bold"/>
                <a:ea typeface="Poppins Bold"/>
                <a:cs typeface="Poppins Bold"/>
                <a:sym typeface="Poppins Bold"/>
              </a:rPr>
              <a:t> Penampilan data yang rapi dan terstruktur membantu pengguna dalam membaca dan memahami informasi inventaris secara cepat dan akurat.</a:t>
            </a:r>
          </a:p>
          <a:p>
            <a:pPr algn="ctr" marL="0" indent="0" lvl="0">
              <a:lnSpc>
                <a:spcPts val="3216"/>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661071" y="-794845"/>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850904" y="872821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3178068" y="-15587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7717030" y="473116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6065475" y="164761"/>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700076" y="2008483"/>
            <a:ext cx="13177334" cy="7132232"/>
          </a:xfrm>
          <a:custGeom>
            <a:avLst/>
            <a:gdLst/>
            <a:ahLst/>
            <a:cxnLst/>
            <a:rect r="r" b="b" t="t" l="l"/>
            <a:pathLst>
              <a:path h="7132232" w="13177334">
                <a:moveTo>
                  <a:pt x="0" y="0"/>
                </a:moveTo>
                <a:lnTo>
                  <a:pt x="13177334" y="0"/>
                </a:lnTo>
                <a:lnTo>
                  <a:pt x="13177334" y="7132232"/>
                </a:lnTo>
                <a:lnTo>
                  <a:pt x="0" y="7132232"/>
                </a:lnTo>
                <a:lnTo>
                  <a:pt x="0" y="0"/>
                </a:lnTo>
                <a:close/>
              </a:path>
            </a:pathLst>
          </a:custGeom>
          <a:blipFill>
            <a:blip r:embed="rId10"/>
            <a:stretch>
              <a:fillRect l="0" t="0" r="0" b="0"/>
            </a:stretch>
          </a:blipFill>
        </p:spPr>
      </p:sp>
      <p:sp>
        <p:nvSpPr>
          <p:cNvPr name="TextBox 11" id="11"/>
          <p:cNvSpPr txBox="true"/>
          <p:nvPr/>
        </p:nvSpPr>
        <p:spPr>
          <a:xfrm rot="0">
            <a:off x="3482429" y="755876"/>
            <a:ext cx="8347566" cy="802906"/>
          </a:xfrm>
          <a:prstGeom prst="rect">
            <a:avLst/>
          </a:prstGeom>
        </p:spPr>
        <p:txBody>
          <a:bodyPr anchor="t" rtlCol="false" tIns="0" lIns="0" bIns="0" rIns="0">
            <a:spAutoFit/>
          </a:bodyPr>
          <a:lstStyle/>
          <a:p>
            <a:pPr algn="ctr">
              <a:lnSpc>
                <a:spcPts val="5538"/>
              </a:lnSpc>
            </a:pPr>
            <a:r>
              <a:rPr lang="en-US" sz="4901">
                <a:solidFill>
                  <a:srgbClr val="A74B4B"/>
                </a:solidFill>
                <a:latin typeface="Mango AC"/>
                <a:ea typeface="Mango AC"/>
                <a:cs typeface="Mango AC"/>
                <a:sym typeface="Mango AC"/>
              </a:rPr>
              <a:t> UPDATE TANAMAN GUI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661071" y="-794845"/>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850904" y="872821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3178068" y="-15587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7717030" y="473116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6065475" y="164761"/>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15613" y="1724927"/>
            <a:ext cx="10500243" cy="7386799"/>
          </a:xfrm>
          <a:custGeom>
            <a:avLst/>
            <a:gdLst/>
            <a:ahLst/>
            <a:cxnLst/>
            <a:rect r="r" b="b" t="t" l="l"/>
            <a:pathLst>
              <a:path h="7386799" w="10500243">
                <a:moveTo>
                  <a:pt x="0" y="0"/>
                </a:moveTo>
                <a:lnTo>
                  <a:pt x="10500243" y="0"/>
                </a:lnTo>
                <a:lnTo>
                  <a:pt x="10500243" y="7386799"/>
                </a:lnTo>
                <a:lnTo>
                  <a:pt x="0" y="7386799"/>
                </a:lnTo>
                <a:lnTo>
                  <a:pt x="0" y="0"/>
                </a:lnTo>
                <a:close/>
              </a:path>
            </a:pathLst>
          </a:custGeom>
          <a:blipFill>
            <a:blip r:embed="rId10"/>
            <a:stretch>
              <a:fillRect l="0" t="0" r="0" b="0"/>
            </a:stretch>
          </a:blipFill>
        </p:spPr>
      </p:sp>
      <p:sp>
        <p:nvSpPr>
          <p:cNvPr name="TextBox 11" id="11"/>
          <p:cNvSpPr txBox="true"/>
          <p:nvPr/>
        </p:nvSpPr>
        <p:spPr>
          <a:xfrm rot="0">
            <a:off x="1388247" y="755806"/>
            <a:ext cx="8347566" cy="802906"/>
          </a:xfrm>
          <a:prstGeom prst="rect">
            <a:avLst/>
          </a:prstGeom>
        </p:spPr>
        <p:txBody>
          <a:bodyPr anchor="t" rtlCol="false" tIns="0" lIns="0" bIns="0" rIns="0">
            <a:spAutoFit/>
          </a:bodyPr>
          <a:lstStyle/>
          <a:p>
            <a:pPr algn="ctr">
              <a:lnSpc>
                <a:spcPts val="5538"/>
              </a:lnSpc>
            </a:pPr>
            <a:r>
              <a:rPr lang="en-US" sz="4901">
                <a:solidFill>
                  <a:srgbClr val="A74B4B"/>
                </a:solidFill>
                <a:latin typeface="Mango AC"/>
                <a:ea typeface="Mango AC"/>
                <a:cs typeface="Mango AC"/>
                <a:sym typeface="Mango AC"/>
              </a:rPr>
              <a:t> UPDATE TANAMAN</a:t>
            </a:r>
          </a:p>
        </p:txBody>
      </p:sp>
      <p:sp>
        <p:nvSpPr>
          <p:cNvPr name="TextBox 12" id="12"/>
          <p:cNvSpPr txBox="true"/>
          <p:nvPr/>
        </p:nvSpPr>
        <p:spPr>
          <a:xfrm rot="0">
            <a:off x="11421607" y="723947"/>
            <a:ext cx="6143444" cy="8387779"/>
          </a:xfrm>
          <a:prstGeom prst="rect">
            <a:avLst/>
          </a:prstGeom>
        </p:spPr>
        <p:txBody>
          <a:bodyPr anchor="t" rtlCol="false" tIns="0" lIns="0" bIns="0" rIns="0">
            <a:spAutoFit/>
          </a:bodyPr>
          <a:lstStyle/>
          <a:p>
            <a:pPr algn="ctr">
              <a:lnSpc>
                <a:spcPts val="3356"/>
              </a:lnSpc>
            </a:pPr>
            <a:r>
              <a:rPr lang="en-US" sz="2397" b="true">
                <a:solidFill>
                  <a:srgbClr val="592718"/>
                </a:solidFill>
                <a:latin typeface="Poppins Bold"/>
                <a:ea typeface="Poppins Bold"/>
                <a:cs typeface="Poppins Bold"/>
                <a:sym typeface="Poppins Bold"/>
              </a:rPr>
              <a:t>Screenshot ini menampilkan fitur update atau pembaruan data tanaman.</a:t>
            </a:r>
          </a:p>
          <a:p>
            <a:pPr algn="ctr">
              <a:lnSpc>
                <a:spcPts val="3356"/>
              </a:lnSpc>
            </a:pPr>
            <a:r>
              <a:rPr lang="en-US" sz="2397" b="true">
                <a:solidFill>
                  <a:srgbClr val="592718"/>
                </a:solidFill>
                <a:latin typeface="Poppins Bold"/>
                <a:ea typeface="Poppins Bold"/>
                <a:cs typeface="Poppins Bold"/>
                <a:sym typeface="Poppins Bold"/>
              </a:rPr>
              <a:t> Pada fitur ini, pengguna diminta untuk memasukkan ID tanaman yang ingin diperbarui.</a:t>
            </a:r>
          </a:p>
          <a:p>
            <a:pPr algn="ctr">
              <a:lnSpc>
                <a:spcPts val="3356"/>
              </a:lnSpc>
            </a:pPr>
            <a:r>
              <a:rPr lang="en-US" sz="2397" b="true">
                <a:solidFill>
                  <a:srgbClr val="592718"/>
                </a:solidFill>
                <a:latin typeface="Poppins Bold"/>
                <a:ea typeface="Poppins Bold"/>
                <a:cs typeface="Poppins Bold"/>
                <a:sym typeface="Poppins Bold"/>
              </a:rPr>
              <a:t>Setelah ID ditemukan, sistem akan menampilkan data lama dan memberikan opsi kepada pengguna untuk mengubah informasi tertentu, seperti stok, kondisi tanaman, atau keterangan tambahan.</a:t>
            </a:r>
          </a:p>
          <a:p>
            <a:pPr algn="ctr">
              <a:lnSpc>
                <a:spcPts val="3356"/>
              </a:lnSpc>
            </a:pPr>
            <a:r>
              <a:rPr lang="en-US" sz="2397" b="true">
                <a:solidFill>
                  <a:srgbClr val="592718"/>
                </a:solidFill>
                <a:latin typeface="Poppins Bold"/>
                <a:ea typeface="Poppins Bold"/>
                <a:cs typeface="Poppins Bold"/>
                <a:sym typeface="Poppins Bold"/>
              </a:rPr>
              <a:t> Setiap perubahan data akan langsung diproses oleh sistem dan disimpan kembali ke dalam file teks.</a:t>
            </a:r>
          </a:p>
          <a:p>
            <a:pPr algn="ctr">
              <a:lnSpc>
                <a:spcPts val="3356"/>
              </a:lnSpc>
            </a:pPr>
            <a:r>
              <a:rPr lang="en-US" sz="2397" b="true">
                <a:solidFill>
                  <a:srgbClr val="592718"/>
                </a:solidFill>
                <a:latin typeface="Poppins Bold"/>
                <a:ea typeface="Poppins Bold"/>
                <a:cs typeface="Poppins Bold"/>
                <a:sym typeface="Poppins Bold"/>
              </a:rPr>
              <a:t> Fitur ini memudahkan pengguna dalam memperbarui data inventaris tanpa harus menghapus dan memasukkan ulang data tanaman.</a:t>
            </a:r>
          </a:p>
          <a:p>
            <a:pPr algn="ctr" marL="0" indent="0" lvl="0">
              <a:lnSpc>
                <a:spcPts val="3356"/>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661071" y="-794845"/>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28785" y="9426584"/>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3178068" y="-15587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577725">
            <a:off x="16604009" y="-104505"/>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1145876"/>
            <a:ext cx="11370586" cy="5921787"/>
          </a:xfrm>
          <a:custGeom>
            <a:avLst/>
            <a:gdLst/>
            <a:ahLst/>
            <a:cxnLst/>
            <a:rect r="r" b="b" t="t" l="l"/>
            <a:pathLst>
              <a:path h="5921787" w="11370586">
                <a:moveTo>
                  <a:pt x="0" y="0"/>
                </a:moveTo>
                <a:lnTo>
                  <a:pt x="11370586" y="0"/>
                </a:lnTo>
                <a:lnTo>
                  <a:pt x="11370586" y="5921787"/>
                </a:lnTo>
                <a:lnTo>
                  <a:pt x="0" y="5921787"/>
                </a:lnTo>
                <a:lnTo>
                  <a:pt x="0" y="0"/>
                </a:lnTo>
                <a:close/>
              </a:path>
            </a:pathLst>
          </a:custGeom>
          <a:blipFill>
            <a:blip r:embed="rId10"/>
            <a:stretch>
              <a:fillRect l="-4352" t="0" r="-4352" b="0"/>
            </a:stretch>
          </a:blipFill>
        </p:spPr>
      </p:sp>
      <p:sp>
        <p:nvSpPr>
          <p:cNvPr name="Freeform 10" id="10"/>
          <p:cNvSpPr/>
          <p:nvPr/>
        </p:nvSpPr>
        <p:spPr>
          <a:xfrm flipH="false" flipV="false" rot="0">
            <a:off x="0" y="5574599"/>
            <a:ext cx="12475328" cy="5068102"/>
          </a:xfrm>
          <a:custGeom>
            <a:avLst/>
            <a:gdLst/>
            <a:ahLst/>
            <a:cxnLst/>
            <a:rect r="r" b="b" t="t" l="l"/>
            <a:pathLst>
              <a:path h="5068102" w="12475328">
                <a:moveTo>
                  <a:pt x="0" y="0"/>
                </a:moveTo>
                <a:lnTo>
                  <a:pt x="12475328" y="0"/>
                </a:lnTo>
                <a:lnTo>
                  <a:pt x="12475328" y="5068102"/>
                </a:lnTo>
                <a:lnTo>
                  <a:pt x="0" y="5068102"/>
                </a:lnTo>
                <a:lnTo>
                  <a:pt x="0" y="0"/>
                </a:lnTo>
                <a:close/>
              </a:path>
            </a:pathLst>
          </a:custGeom>
          <a:blipFill>
            <a:blip r:embed="rId11"/>
            <a:stretch>
              <a:fillRect l="0" t="0" r="0" b="0"/>
            </a:stretch>
          </a:blipFill>
        </p:spPr>
      </p:sp>
      <p:sp>
        <p:nvSpPr>
          <p:cNvPr name="TextBox 11" id="11"/>
          <p:cNvSpPr txBox="true"/>
          <p:nvPr/>
        </p:nvSpPr>
        <p:spPr>
          <a:xfrm rot="0">
            <a:off x="1511510" y="-57150"/>
            <a:ext cx="8347566" cy="1196734"/>
          </a:xfrm>
          <a:prstGeom prst="rect">
            <a:avLst/>
          </a:prstGeom>
        </p:spPr>
        <p:txBody>
          <a:bodyPr anchor="t" rtlCol="false" tIns="0" lIns="0" bIns="0" rIns="0">
            <a:spAutoFit/>
          </a:bodyPr>
          <a:lstStyle/>
          <a:p>
            <a:pPr algn="ctr">
              <a:lnSpc>
                <a:spcPts val="4408"/>
              </a:lnSpc>
            </a:pPr>
            <a:r>
              <a:rPr lang="en-US" sz="3901">
                <a:solidFill>
                  <a:srgbClr val="A74B4B"/>
                </a:solidFill>
                <a:latin typeface="Mango AC"/>
                <a:ea typeface="Mango AC"/>
                <a:cs typeface="Mango AC"/>
                <a:sym typeface="Mango AC"/>
              </a:rPr>
              <a:t>HAPUS DATA TANAMAN CONSOLE &amp; GUI</a:t>
            </a:r>
          </a:p>
        </p:txBody>
      </p:sp>
      <p:sp>
        <p:nvSpPr>
          <p:cNvPr name="TextBox 12" id="12"/>
          <p:cNvSpPr txBox="true"/>
          <p:nvPr/>
        </p:nvSpPr>
        <p:spPr>
          <a:xfrm rot="0">
            <a:off x="12265936" y="267214"/>
            <a:ext cx="5914509" cy="9159369"/>
          </a:xfrm>
          <a:prstGeom prst="rect">
            <a:avLst/>
          </a:prstGeom>
        </p:spPr>
        <p:txBody>
          <a:bodyPr anchor="t" rtlCol="false" tIns="0" lIns="0" bIns="0" rIns="0">
            <a:spAutoFit/>
          </a:bodyPr>
          <a:lstStyle/>
          <a:p>
            <a:pPr algn="ctr">
              <a:lnSpc>
                <a:spcPts val="3491"/>
              </a:lnSpc>
            </a:pPr>
            <a:r>
              <a:rPr lang="en-US" sz="2494" b="true">
                <a:solidFill>
                  <a:srgbClr val="592718"/>
                </a:solidFill>
                <a:latin typeface="Poppins Bold"/>
                <a:ea typeface="Poppins Bold"/>
                <a:cs typeface="Poppins Bold"/>
                <a:sym typeface="Poppins Bold"/>
              </a:rPr>
              <a:t>Tampilan ini menunjukkan fitur penghapusan data tanaman dari sistem inventaris.</a:t>
            </a:r>
          </a:p>
          <a:p>
            <a:pPr algn="ctr">
              <a:lnSpc>
                <a:spcPts val="3491"/>
              </a:lnSpc>
            </a:pPr>
            <a:r>
              <a:rPr lang="en-US" sz="2494" b="true">
                <a:solidFill>
                  <a:srgbClr val="592718"/>
                </a:solidFill>
                <a:latin typeface="Poppins Bold"/>
                <a:ea typeface="Poppins Bold"/>
                <a:cs typeface="Poppins Bold"/>
                <a:sym typeface="Poppins Bold"/>
              </a:rPr>
              <a:t> Pengguna diminta untuk memasukkan ID tanaman yang akan dihapus.</a:t>
            </a:r>
          </a:p>
          <a:p>
            <a:pPr algn="ctr">
              <a:lnSpc>
                <a:spcPts val="3491"/>
              </a:lnSpc>
            </a:pPr>
            <a:r>
              <a:rPr lang="en-US" sz="2494" b="true">
                <a:solidFill>
                  <a:srgbClr val="592718"/>
                </a:solidFill>
                <a:latin typeface="Poppins Bold"/>
                <a:ea typeface="Poppins Bold"/>
                <a:cs typeface="Poppins Bold"/>
                <a:sym typeface="Poppins Bold"/>
              </a:rPr>
              <a:t>Sebelum proses penghapusan dilakukan, sistem akan menampilkan konfirmasi kepada pengguna sebagai langkah keamanan untuk menghindari kesalahan penghapusan data.</a:t>
            </a:r>
          </a:p>
          <a:p>
            <a:pPr algn="ctr">
              <a:lnSpc>
                <a:spcPts val="3491"/>
              </a:lnSpc>
            </a:pPr>
            <a:r>
              <a:rPr lang="en-US" sz="2494" b="true">
                <a:solidFill>
                  <a:srgbClr val="592718"/>
                </a:solidFill>
                <a:latin typeface="Poppins Bold"/>
                <a:ea typeface="Poppins Bold"/>
                <a:cs typeface="Poppins Bold"/>
                <a:sym typeface="Poppins Bold"/>
              </a:rPr>
              <a:t> Apabila pengguna menyetujui, data tanaman akan dihapus dari sistem dan perubahan tersebut akan langsung disimpan ke dalam file teks.</a:t>
            </a:r>
          </a:p>
          <a:p>
            <a:pPr algn="ctr">
              <a:lnSpc>
                <a:spcPts val="3491"/>
              </a:lnSpc>
            </a:pPr>
            <a:r>
              <a:rPr lang="en-US" sz="2494" b="true">
                <a:solidFill>
                  <a:srgbClr val="592718"/>
                </a:solidFill>
                <a:latin typeface="Poppins Bold"/>
                <a:ea typeface="Poppins Bold"/>
                <a:cs typeface="Poppins Bold"/>
                <a:sym typeface="Poppins Bold"/>
              </a:rPr>
              <a:t> Fitur ini membantu menjaga keakuratan dan kebersihan data inventaris.</a:t>
            </a:r>
          </a:p>
          <a:p>
            <a:pPr algn="ctr" marL="0" indent="0" lvl="0">
              <a:lnSpc>
                <a:spcPts val="3491"/>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2406253" y="-110215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829"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850904" y="872821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826789" y="4042766"/>
            <a:ext cx="1126191" cy="1355372"/>
          </a:xfrm>
          <a:custGeom>
            <a:avLst/>
            <a:gdLst/>
            <a:ahLst/>
            <a:cxnLst/>
            <a:rect r="r" b="b" t="t" l="l"/>
            <a:pathLst>
              <a:path h="1355372" w="1126191">
                <a:moveTo>
                  <a:pt x="0" y="0"/>
                </a:moveTo>
                <a:lnTo>
                  <a:pt x="1126191" y="0"/>
                </a:lnTo>
                <a:lnTo>
                  <a:pt x="1126191" y="1355372"/>
                </a:lnTo>
                <a:lnTo>
                  <a:pt x="0" y="13553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3178068" y="-15587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577725">
            <a:off x="16324503" y="-885938"/>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7159342">
            <a:off x="-1391678" y="9150731"/>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263694" y="596433"/>
            <a:ext cx="12045797" cy="5683444"/>
          </a:xfrm>
          <a:custGeom>
            <a:avLst/>
            <a:gdLst/>
            <a:ahLst/>
            <a:cxnLst/>
            <a:rect r="r" b="b" t="t" l="l"/>
            <a:pathLst>
              <a:path h="5683444" w="12045797">
                <a:moveTo>
                  <a:pt x="0" y="0"/>
                </a:moveTo>
                <a:lnTo>
                  <a:pt x="12045797" y="0"/>
                </a:lnTo>
                <a:lnTo>
                  <a:pt x="12045797" y="5683444"/>
                </a:lnTo>
                <a:lnTo>
                  <a:pt x="0" y="5683444"/>
                </a:lnTo>
                <a:lnTo>
                  <a:pt x="0" y="0"/>
                </a:lnTo>
                <a:close/>
              </a:path>
            </a:pathLst>
          </a:custGeom>
          <a:blipFill>
            <a:blip r:embed="rId10"/>
            <a:stretch>
              <a:fillRect l="0" t="0" r="0" b="0"/>
            </a:stretch>
          </a:blipFill>
        </p:spPr>
      </p:sp>
      <p:sp>
        <p:nvSpPr>
          <p:cNvPr name="Freeform 10" id="10"/>
          <p:cNvSpPr/>
          <p:nvPr/>
        </p:nvSpPr>
        <p:spPr>
          <a:xfrm flipH="false" flipV="false" rot="0">
            <a:off x="108575" y="5908619"/>
            <a:ext cx="11673528" cy="5077985"/>
          </a:xfrm>
          <a:custGeom>
            <a:avLst/>
            <a:gdLst/>
            <a:ahLst/>
            <a:cxnLst/>
            <a:rect r="r" b="b" t="t" l="l"/>
            <a:pathLst>
              <a:path h="5077985" w="11673528">
                <a:moveTo>
                  <a:pt x="0" y="0"/>
                </a:moveTo>
                <a:lnTo>
                  <a:pt x="11673528" y="0"/>
                </a:lnTo>
                <a:lnTo>
                  <a:pt x="11673528" y="5077985"/>
                </a:lnTo>
                <a:lnTo>
                  <a:pt x="0" y="5077985"/>
                </a:lnTo>
                <a:lnTo>
                  <a:pt x="0" y="0"/>
                </a:lnTo>
                <a:close/>
              </a:path>
            </a:pathLst>
          </a:custGeom>
          <a:blipFill>
            <a:blip r:embed="rId11"/>
            <a:stretch>
              <a:fillRect l="0" t="0" r="0" b="0"/>
            </a:stretch>
          </a:blipFill>
        </p:spPr>
      </p:sp>
      <p:sp>
        <p:nvSpPr>
          <p:cNvPr name="TextBox 11" id="11"/>
          <p:cNvSpPr txBox="true"/>
          <p:nvPr/>
        </p:nvSpPr>
        <p:spPr>
          <a:xfrm rot="0">
            <a:off x="1028700" y="-69624"/>
            <a:ext cx="8347566" cy="604406"/>
          </a:xfrm>
          <a:prstGeom prst="rect">
            <a:avLst/>
          </a:prstGeom>
        </p:spPr>
        <p:txBody>
          <a:bodyPr anchor="t" rtlCol="false" tIns="0" lIns="0" bIns="0" rIns="0">
            <a:spAutoFit/>
          </a:bodyPr>
          <a:lstStyle/>
          <a:p>
            <a:pPr algn="ctr">
              <a:lnSpc>
                <a:spcPts val="4182"/>
              </a:lnSpc>
            </a:pPr>
            <a:r>
              <a:rPr lang="en-US" sz="3701">
                <a:solidFill>
                  <a:srgbClr val="A74B4B"/>
                </a:solidFill>
                <a:latin typeface="Mango AC"/>
                <a:ea typeface="Mango AC"/>
                <a:cs typeface="Mango AC"/>
                <a:sym typeface="Mango AC"/>
              </a:rPr>
              <a:t>LAPORAN DATA INVETARIS</a:t>
            </a:r>
          </a:p>
        </p:txBody>
      </p:sp>
      <p:sp>
        <p:nvSpPr>
          <p:cNvPr name="TextBox 12" id="12"/>
          <p:cNvSpPr txBox="true"/>
          <p:nvPr/>
        </p:nvSpPr>
        <p:spPr>
          <a:xfrm rot="0">
            <a:off x="12600435" y="25481"/>
            <a:ext cx="5687565" cy="9159369"/>
          </a:xfrm>
          <a:prstGeom prst="rect">
            <a:avLst/>
          </a:prstGeom>
        </p:spPr>
        <p:txBody>
          <a:bodyPr anchor="t" rtlCol="false" tIns="0" lIns="0" bIns="0" rIns="0">
            <a:spAutoFit/>
          </a:bodyPr>
          <a:lstStyle/>
          <a:p>
            <a:pPr algn="ctr">
              <a:lnSpc>
                <a:spcPts val="3491"/>
              </a:lnSpc>
            </a:pPr>
            <a:r>
              <a:rPr lang="en-US" sz="2494" b="true">
                <a:solidFill>
                  <a:srgbClr val="592718"/>
                </a:solidFill>
                <a:latin typeface="Poppins Bold"/>
                <a:ea typeface="Poppins Bold"/>
                <a:cs typeface="Poppins Bold"/>
                <a:sym typeface="Poppins Bold"/>
              </a:rPr>
              <a:t>Screenshot ini menampilkan laporan inventaris tanaman hias yang dihasilkan secara otomatis oleh aplikasi SPIM.</a:t>
            </a:r>
          </a:p>
          <a:p>
            <a:pPr algn="ctr">
              <a:lnSpc>
                <a:spcPts val="3491"/>
              </a:lnSpc>
            </a:pPr>
            <a:r>
              <a:rPr lang="en-US" sz="2494" b="true">
                <a:solidFill>
                  <a:srgbClr val="592718"/>
                </a:solidFill>
                <a:latin typeface="Poppins Bold"/>
                <a:ea typeface="Poppins Bold"/>
                <a:cs typeface="Poppins Bold"/>
                <a:sym typeface="Poppins Bold"/>
              </a:rPr>
              <a:t> Laporan ini berisi informasi statistik, seperti total jumlah tanaman, total stok keseluruhan, serta rekap kondisi tanaman.</a:t>
            </a:r>
          </a:p>
          <a:p>
            <a:pPr algn="ctr">
              <a:lnSpc>
                <a:spcPts val="3491"/>
              </a:lnSpc>
            </a:pPr>
            <a:r>
              <a:rPr lang="en-US" sz="2494" b="true">
                <a:solidFill>
                  <a:srgbClr val="592718"/>
                </a:solidFill>
                <a:latin typeface="Poppins Bold"/>
                <a:ea typeface="Poppins Bold"/>
                <a:cs typeface="Poppins Bold"/>
                <a:sym typeface="Poppins Bold"/>
              </a:rPr>
              <a:t>Fitur laporan ini membantu pengguna dalam melakukan evaluasi inventaris dan pengambilan keputusan terkait perawatan, pembelian, atau penjualan tanaman.</a:t>
            </a:r>
          </a:p>
          <a:p>
            <a:pPr algn="ctr">
              <a:lnSpc>
                <a:spcPts val="3491"/>
              </a:lnSpc>
            </a:pPr>
            <a:r>
              <a:rPr lang="en-US" sz="2494" b="true">
                <a:solidFill>
                  <a:srgbClr val="592718"/>
                </a:solidFill>
                <a:latin typeface="Poppins Bold"/>
                <a:ea typeface="Poppins Bold"/>
                <a:cs typeface="Poppins Bold"/>
                <a:sym typeface="Poppins Bold"/>
              </a:rPr>
              <a:t> Dengan adanya laporan inventaris, pengguna tidak perlu menghitung data secara manual karena sistem telah menyajikan informasi secara cepat dan akurat.</a:t>
            </a:r>
          </a:p>
          <a:p>
            <a:pPr algn="ctr" marL="0" indent="0" lvl="0">
              <a:lnSpc>
                <a:spcPts val="3491"/>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136568"/>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10457" y="1030889"/>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68058" y="1345247"/>
            <a:ext cx="9751884" cy="937890"/>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KESIMPULAN</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3221742" y="2314575"/>
            <a:ext cx="11844516" cy="6943725"/>
          </a:xfrm>
          <a:prstGeom prst="rect">
            <a:avLst/>
          </a:prstGeom>
        </p:spPr>
        <p:txBody>
          <a:bodyPr anchor="t" rtlCol="false" tIns="0" lIns="0" bIns="0" rIns="0">
            <a:spAutoFit/>
          </a:bodyPr>
          <a:lstStyle/>
          <a:p>
            <a:pPr algn="ctr" marL="0" indent="0" lvl="0">
              <a:lnSpc>
                <a:spcPts val="4200"/>
              </a:lnSpc>
            </a:pPr>
            <a:r>
              <a:rPr lang="en-US" sz="3000">
                <a:solidFill>
                  <a:srgbClr val="592718"/>
                </a:solidFill>
                <a:latin typeface="Poppins"/>
                <a:ea typeface="Poppins"/>
                <a:cs typeface="Poppins"/>
                <a:sym typeface="Poppins"/>
              </a:rPr>
              <a:t>Berdasarkan hasil perancangan dan implementasi aplikasi SPIM (Sistem Pengelolaan Inventaris Tanaman Hias), dapat disimpulkan bahwa aplikasi ini berhasil dikembangkan sebagai solusi pengelolaan inventaris tanaman hias berbasis Java yang efektif dan terstruktur. Aplikasi SPIM mampu mengelola data tanaman melalui fitur CRUD, menyimpan data secara persisten menggunakan file teks, serta menyediakan laporan inventaris secara otomatis. Penerapan konsep Object Oriented Programming (enkapsulasi, pewarisan, dan polimorfisme) telah diterapkan dengan baik, serta penggunaan dual interface (Console dan GUI) memberikan fleksibilitas dan kemudahan bagi pengguna dalam mengelola data inventaris tanaman hias.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1737515" y="4875671"/>
            <a:ext cx="1487235" cy="1789888"/>
          </a:xfrm>
          <a:custGeom>
            <a:avLst/>
            <a:gdLst/>
            <a:ahLst/>
            <a:cxnLst/>
            <a:rect r="r" b="b" t="t" l="l"/>
            <a:pathLst>
              <a:path h="1789888" w="1487235">
                <a:moveTo>
                  <a:pt x="0" y="0"/>
                </a:moveTo>
                <a:lnTo>
                  <a:pt x="1487235" y="0"/>
                </a:lnTo>
                <a:lnTo>
                  <a:pt x="1487235" y="1789888"/>
                </a:lnTo>
                <a:lnTo>
                  <a:pt x="0" y="17898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5583725" y="3861524"/>
            <a:ext cx="1569130" cy="1888450"/>
          </a:xfrm>
          <a:custGeom>
            <a:avLst/>
            <a:gdLst/>
            <a:ahLst/>
            <a:cxnLst/>
            <a:rect r="r" b="b" t="t" l="l"/>
            <a:pathLst>
              <a:path h="1888450" w="1569130">
                <a:moveTo>
                  <a:pt x="0" y="0"/>
                </a:moveTo>
                <a:lnTo>
                  <a:pt x="1569130" y="0"/>
                </a:lnTo>
                <a:lnTo>
                  <a:pt x="1569130" y="1888450"/>
                </a:lnTo>
                <a:lnTo>
                  <a:pt x="0" y="18884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297704">
            <a:off x="1622000" y="-15651"/>
            <a:ext cx="4757000" cy="2093080"/>
          </a:xfrm>
          <a:custGeom>
            <a:avLst/>
            <a:gdLst/>
            <a:ahLst/>
            <a:cxnLst/>
            <a:rect r="r" b="b" t="t" l="l"/>
            <a:pathLst>
              <a:path h="2093080" w="4757000">
                <a:moveTo>
                  <a:pt x="0" y="0"/>
                </a:moveTo>
                <a:lnTo>
                  <a:pt x="4757000" y="0"/>
                </a:lnTo>
                <a:lnTo>
                  <a:pt x="4757000" y="2093080"/>
                </a:lnTo>
                <a:lnTo>
                  <a:pt x="0" y="20930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9149630">
            <a:off x="10532985" y="8416729"/>
            <a:ext cx="4700052" cy="2068023"/>
          </a:xfrm>
          <a:custGeom>
            <a:avLst/>
            <a:gdLst/>
            <a:ahLst/>
            <a:cxnLst/>
            <a:rect r="r" b="b" t="t" l="l"/>
            <a:pathLst>
              <a:path h="2068023" w="4700052">
                <a:moveTo>
                  <a:pt x="0" y="0"/>
                </a:moveTo>
                <a:lnTo>
                  <a:pt x="4700052" y="0"/>
                </a:lnTo>
                <a:lnTo>
                  <a:pt x="4700052" y="2068023"/>
                </a:lnTo>
                <a:lnTo>
                  <a:pt x="0" y="20680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2471448" y="2961500"/>
            <a:ext cx="13344609" cy="4211600"/>
          </a:xfrm>
          <a:prstGeom prst="rect">
            <a:avLst/>
          </a:prstGeom>
        </p:spPr>
        <p:txBody>
          <a:bodyPr anchor="t" rtlCol="false" tIns="0" lIns="0" bIns="0" rIns="0">
            <a:spAutoFit/>
          </a:bodyPr>
          <a:lstStyle/>
          <a:p>
            <a:pPr algn="ctr">
              <a:lnSpc>
                <a:spcPts val="15527"/>
              </a:lnSpc>
            </a:pPr>
            <a:r>
              <a:rPr lang="en-US" sz="13740">
                <a:solidFill>
                  <a:srgbClr val="A74B4B"/>
                </a:solidFill>
                <a:latin typeface="Mango AC"/>
                <a:ea typeface="Mango AC"/>
                <a:cs typeface="Mango AC"/>
                <a:sym typeface="Mango AC"/>
              </a:rPr>
              <a:t>TERIMA</a:t>
            </a:r>
          </a:p>
          <a:p>
            <a:pPr algn="ctr">
              <a:lnSpc>
                <a:spcPts val="15527"/>
              </a:lnSpc>
            </a:pPr>
            <a:r>
              <a:rPr lang="en-US" sz="13740">
                <a:solidFill>
                  <a:srgbClr val="A74B4B"/>
                </a:solidFill>
                <a:latin typeface="Mango AC"/>
                <a:ea typeface="Mango AC"/>
                <a:cs typeface="Mango AC"/>
                <a:sym typeface="Mango AC"/>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DAG95zXS2QM</dc:identifier>
  <dcterms:modified xsi:type="dcterms:W3CDTF">2011-08-01T06:04:30Z</dcterms:modified>
  <cp:revision>1</cp:revision>
  <dc:title>tugas presentasi</dc:title>
</cp:coreProperties>
</file>